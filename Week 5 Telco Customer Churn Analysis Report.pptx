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6"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46" autoAdjust="0"/>
    <p:restoredTop sz="94660"/>
  </p:normalViewPr>
  <p:slideViewPr>
    <p:cSldViewPr snapToGrid="0">
      <p:cViewPr varScale="1">
        <p:scale>
          <a:sx n="96" d="100"/>
          <a:sy n="96" d="100"/>
        </p:scale>
        <p:origin x="67"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GB"/>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7/11/2026</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GB"/>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7/11/2026</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GB"/>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GB"/>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7/11/2026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7/11/2026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7/11/2026</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GB"/>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7/11/2026</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7/11/2026</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3272-8C24-44BB-8E80-8439088D029E}"/>
              </a:ext>
            </a:extLst>
          </p:cNvPr>
          <p:cNvSpPr>
            <a:spLocks noGrp="1"/>
          </p:cNvSpPr>
          <p:nvPr>
            <p:ph type="ctrTitle"/>
          </p:nvPr>
        </p:nvSpPr>
        <p:spPr>
          <a:xfrm>
            <a:off x="1518699" y="993913"/>
            <a:ext cx="9858292" cy="1741336"/>
          </a:xfrm>
        </p:spPr>
        <p:txBody>
          <a:bodyPr>
            <a:normAutofit fontScale="90000"/>
          </a:bodyPr>
          <a:lstStyle/>
          <a:p>
            <a:r>
              <a:rPr lang="en-US" dirty="0">
                <a:solidFill>
                  <a:schemeClr val="accent5">
                    <a:lumMod val="60000"/>
                    <a:lumOff val="40000"/>
                  </a:schemeClr>
                </a:solidFill>
              </a:rPr>
              <a:t>	</a:t>
            </a:r>
            <a:r>
              <a:rPr lang="en-US" sz="3600" dirty="0">
                <a:solidFill>
                  <a:schemeClr val="accent5">
                    <a:lumMod val="60000"/>
                    <a:lumOff val="40000"/>
                  </a:schemeClr>
                </a:solidFill>
                <a:latin typeface="Times New Roman" panose="02020603050405020304" pitchFamily="18" charset="0"/>
                <a:cs typeface="Times New Roman" panose="02020603050405020304" pitchFamily="18" charset="0"/>
              </a:rPr>
              <a:t>telco customer churn analysis</a:t>
            </a:r>
            <a:br>
              <a:rPr lang="en-US" sz="3600" dirty="0">
                <a:solidFill>
                  <a:schemeClr val="accent5">
                    <a:lumMod val="60000"/>
                    <a:lumOff val="40000"/>
                  </a:schemeClr>
                </a:solidFill>
                <a:latin typeface="Times New Roman" panose="02020603050405020304" pitchFamily="18" charset="0"/>
                <a:cs typeface="Times New Roman" panose="02020603050405020304" pitchFamily="18" charset="0"/>
              </a:rPr>
            </a:br>
            <a:br>
              <a:rPr lang="en-US" sz="3600" dirty="0">
                <a:solidFill>
                  <a:schemeClr val="accent5">
                    <a:lumMod val="60000"/>
                    <a:lumOff val="40000"/>
                  </a:schemeClr>
                </a:solidFill>
                <a:latin typeface="Times New Roman" panose="02020603050405020304" pitchFamily="18" charset="0"/>
                <a:cs typeface="Times New Roman" panose="02020603050405020304" pitchFamily="18" charset="0"/>
              </a:rPr>
            </a:br>
            <a:r>
              <a:rPr lang="en-US" sz="3600" dirty="0">
                <a:solidFill>
                  <a:schemeClr val="accent5">
                    <a:lumMod val="60000"/>
                    <a:lumOff val="40000"/>
                  </a:schemeClr>
                </a:solidFill>
                <a:latin typeface="Times New Roman" panose="02020603050405020304" pitchFamily="18" charset="0"/>
                <a:cs typeface="Times New Roman" panose="02020603050405020304" pitchFamily="18" charset="0"/>
              </a:rPr>
              <a:t>         business analytics case study</a:t>
            </a:r>
          </a:p>
        </p:txBody>
      </p:sp>
      <p:sp>
        <p:nvSpPr>
          <p:cNvPr id="3" name="Subtitle 2">
            <a:extLst>
              <a:ext uri="{FF2B5EF4-FFF2-40B4-BE49-F238E27FC236}">
                <a16:creationId xmlns:a16="http://schemas.microsoft.com/office/drawing/2014/main" id="{61EAD342-5515-4D56-9B3A-403A35E76536}"/>
              </a:ext>
            </a:extLst>
          </p:cNvPr>
          <p:cNvSpPr>
            <a:spLocks noGrp="1"/>
          </p:cNvSpPr>
          <p:nvPr>
            <p:ph type="subTitle" idx="1"/>
          </p:nvPr>
        </p:nvSpPr>
        <p:spPr>
          <a:xfrm>
            <a:off x="7373510" y="3331597"/>
            <a:ext cx="4265874" cy="1188720"/>
          </a:xfrm>
          <a:blipFill>
            <a:blip r:embed="rId2"/>
            <a:tile tx="0" ty="0" sx="100000" sy="100000" flip="none" algn="tl"/>
          </a:blipFill>
        </p:spPr>
        <p:txBody>
          <a:bodyPr>
            <a:normAutofit/>
          </a:bodyPr>
          <a:lstStyle/>
          <a:p>
            <a:pPr algn="ctr"/>
            <a:r>
              <a:rPr lang="en-US" dirty="0">
                <a:solidFill>
                  <a:srgbClr val="002060"/>
                </a:solidFill>
                <a:latin typeface="Times New Roman" panose="02020603050405020304" pitchFamily="18" charset="0"/>
                <a:cs typeface="Times New Roman" panose="02020603050405020304" pitchFamily="18" charset="0"/>
              </a:rPr>
              <a:t>OSALOBO EGHOSA</a:t>
            </a:r>
          </a:p>
          <a:p>
            <a:pPr algn="ctr"/>
            <a:r>
              <a:rPr lang="en-US" dirty="0">
                <a:solidFill>
                  <a:srgbClr val="002060"/>
                </a:solidFill>
                <a:latin typeface="Times New Roman" panose="02020603050405020304" pitchFamily="18" charset="0"/>
                <a:cs typeface="Times New Roman" panose="02020603050405020304" pitchFamily="18" charset="0"/>
              </a:rPr>
              <a:t>DATA ANALYST | FINANCIAL ANALYST</a:t>
            </a:r>
          </a:p>
        </p:txBody>
      </p:sp>
    </p:spTree>
    <p:extLst>
      <p:ext uri="{BB962C8B-B14F-4D97-AF65-F5344CB8AC3E}">
        <p14:creationId xmlns:p14="http://schemas.microsoft.com/office/powerpoint/2010/main" val="1159934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D5265-BE0F-4166-AD7B-A0A4641CB6CD}"/>
              </a:ext>
            </a:extLst>
          </p:cNvPr>
          <p:cNvSpPr>
            <a:spLocks noGrp="1"/>
          </p:cNvSpPr>
          <p:nvPr>
            <p:ph type="title"/>
          </p:nvPr>
        </p:nvSpPr>
        <p:spPr>
          <a:xfrm>
            <a:off x="2256503" y="223347"/>
            <a:ext cx="8745794" cy="422787"/>
          </a:xfrm>
          <a:noFill/>
        </p:spPr>
        <p:txBody>
          <a:bodyPr>
            <a:normAutofit fontScale="90000"/>
          </a:bodyPr>
          <a:lstStyle/>
          <a:p>
            <a:pPr algn="ctr"/>
            <a:r>
              <a:rPr lang="en-US" dirty="0">
                <a:latin typeface="Times New Roman" panose="02020603050405020304" pitchFamily="18" charset="0"/>
                <a:cs typeface="Times New Roman" panose="02020603050405020304" pitchFamily="18" charset="0"/>
              </a:rPr>
              <a:t>Business problem statement</a:t>
            </a:r>
          </a:p>
        </p:txBody>
      </p:sp>
      <p:sp>
        <p:nvSpPr>
          <p:cNvPr id="3" name="Content Placeholder 2">
            <a:extLst>
              <a:ext uri="{FF2B5EF4-FFF2-40B4-BE49-F238E27FC236}">
                <a16:creationId xmlns:a16="http://schemas.microsoft.com/office/drawing/2014/main" id="{B1169EA0-62C7-4445-9D7B-F8D775442411}"/>
              </a:ext>
            </a:extLst>
          </p:cNvPr>
          <p:cNvSpPr>
            <a:spLocks noGrp="1"/>
          </p:cNvSpPr>
          <p:nvPr>
            <p:ph idx="1"/>
          </p:nvPr>
        </p:nvSpPr>
        <p:spPr>
          <a:xfrm>
            <a:off x="353961" y="747252"/>
            <a:ext cx="11152239" cy="5742038"/>
          </a:xfrm>
        </p:spPr>
        <p:txBody>
          <a:bodyPr/>
          <a:lstStyle/>
          <a:p>
            <a:pPr marL="0" indent="0" algn="ctr">
              <a:buNone/>
            </a:pPr>
            <a:r>
              <a:rPr lang="en-US" sz="2400" b="1" u="sng" dirty="0">
                <a:latin typeface="Times New Roman" panose="02020603050405020304" pitchFamily="18" charset="0"/>
                <a:cs typeface="Times New Roman" panose="02020603050405020304" pitchFamily="18" charset="0"/>
              </a:rPr>
              <a:t>Business Challenge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Customer churn remains one of the most significant challenges in the telecommunications industry. Every customer who leaves results in lost revenue, higher customer acquisition costs, and decline in overall customer lifetime value.</a:t>
            </a:r>
          </a:p>
          <a:p>
            <a:pPr marL="0" indent="0" algn="ctr">
              <a:buNone/>
            </a:pPr>
            <a:endParaRPr lang="en-US" sz="2400" u="sng" dirty="0">
              <a:latin typeface="Times New Roman" panose="02020603050405020304" pitchFamily="18" charset="0"/>
              <a:cs typeface="Times New Roman" panose="02020603050405020304" pitchFamily="18" charset="0"/>
            </a:endParaRPr>
          </a:p>
          <a:p>
            <a:pPr marL="0" indent="0" algn="ctr">
              <a:buNone/>
            </a:pPr>
            <a:endParaRPr lang="en-US" sz="2400" u="sng" dirty="0">
              <a:latin typeface="Times New Roman" panose="02020603050405020304" pitchFamily="18" charset="0"/>
              <a:cs typeface="Times New Roman" panose="02020603050405020304" pitchFamily="18" charset="0"/>
            </a:endParaRPr>
          </a:p>
          <a:p>
            <a:pPr marL="0" indent="0" algn="ctr">
              <a:buNone/>
            </a:pPr>
            <a:r>
              <a:rPr lang="en-US" sz="2400" b="1" u="sng" dirty="0">
                <a:latin typeface="Times New Roman" panose="02020603050405020304" pitchFamily="18" charset="0"/>
                <a:cs typeface="Times New Roman" panose="02020603050405020304" pitchFamily="18" charset="0"/>
              </a:rPr>
              <a:t>Key Questions</a:t>
            </a:r>
          </a:p>
          <a:p>
            <a:r>
              <a:rPr lang="en-US" dirty="0">
                <a:latin typeface="Times New Roman" panose="02020603050405020304" pitchFamily="18" charset="0"/>
                <a:cs typeface="Times New Roman" panose="02020603050405020304" pitchFamily="18" charset="0"/>
              </a:rPr>
              <a:t>Why are customers leaving the company?</a:t>
            </a:r>
          </a:p>
          <a:p>
            <a:r>
              <a:rPr lang="en-US" dirty="0">
                <a:latin typeface="Times New Roman" panose="02020603050405020304" pitchFamily="18" charset="0"/>
                <a:cs typeface="Times New Roman" panose="02020603050405020304" pitchFamily="18" charset="0"/>
              </a:rPr>
              <a:t>Which customer segments are most likely to churn?</a:t>
            </a:r>
          </a:p>
          <a:p>
            <a:r>
              <a:rPr lang="en-US" dirty="0">
                <a:latin typeface="Times New Roman" panose="02020603050405020304" pitchFamily="18" charset="0"/>
                <a:cs typeface="Times New Roman" panose="02020603050405020304" pitchFamily="18" charset="0"/>
              </a:rPr>
              <a:t>Which business factors influence churn?</a:t>
            </a:r>
          </a:p>
          <a:p>
            <a:r>
              <a:rPr lang="en-US" dirty="0">
                <a:latin typeface="Times New Roman" panose="02020603050405020304" pitchFamily="18" charset="0"/>
                <a:cs typeface="Times New Roman" panose="02020603050405020304" pitchFamily="18" charset="0"/>
              </a:rPr>
              <a:t>How can retention be improved?</a:t>
            </a:r>
          </a:p>
          <a:p>
            <a:endParaRPr lang="en-US" dirty="0"/>
          </a:p>
        </p:txBody>
      </p:sp>
      <p:sp>
        <p:nvSpPr>
          <p:cNvPr id="6" name="Rectangle: Rounded Corners 5">
            <a:extLst>
              <a:ext uri="{FF2B5EF4-FFF2-40B4-BE49-F238E27FC236}">
                <a16:creationId xmlns:a16="http://schemas.microsoft.com/office/drawing/2014/main" id="{D1C14BAE-ABBA-4C9C-99B7-739D6B7BC753}"/>
              </a:ext>
            </a:extLst>
          </p:cNvPr>
          <p:cNvSpPr/>
          <p:nvPr/>
        </p:nvSpPr>
        <p:spPr>
          <a:xfrm>
            <a:off x="8646093" y="3211944"/>
            <a:ext cx="2635045" cy="1406013"/>
          </a:xfrm>
          <a:prstGeom prst="roundRect">
            <a:avLst>
              <a:gd name="adj" fmla="val 1603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F984BD39-A1BD-4362-A497-0BF9CDC94F98}"/>
              </a:ext>
            </a:extLst>
          </p:cNvPr>
          <p:cNvSpPr/>
          <p:nvPr/>
        </p:nvSpPr>
        <p:spPr>
          <a:xfrm>
            <a:off x="8829374" y="3377863"/>
            <a:ext cx="2268481" cy="1074174"/>
          </a:xfrm>
          <a:prstGeom prst="roundRect">
            <a:avLst>
              <a:gd name="adj" fmla="val 0"/>
            </a:avLst>
          </a:prstGeom>
          <a:solidFill>
            <a:schemeClr val="bg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1969927-BBD1-4CCC-B7D9-CAA1223DAA84}"/>
              </a:ext>
            </a:extLst>
          </p:cNvPr>
          <p:cNvSpPr txBox="1"/>
          <p:nvPr/>
        </p:nvSpPr>
        <p:spPr>
          <a:xfrm>
            <a:off x="8939310" y="4002887"/>
            <a:ext cx="1907458"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Churn Rate%</a:t>
            </a:r>
          </a:p>
        </p:txBody>
      </p:sp>
      <p:sp>
        <p:nvSpPr>
          <p:cNvPr id="12" name="TextBox 11">
            <a:extLst>
              <a:ext uri="{FF2B5EF4-FFF2-40B4-BE49-F238E27FC236}">
                <a16:creationId xmlns:a16="http://schemas.microsoft.com/office/drawing/2014/main" id="{55A43504-0443-4D58-800B-942C97FA7390}"/>
              </a:ext>
            </a:extLst>
          </p:cNvPr>
          <p:cNvSpPr txBox="1"/>
          <p:nvPr/>
        </p:nvSpPr>
        <p:spPr>
          <a:xfrm>
            <a:off x="9030193" y="3388343"/>
            <a:ext cx="1725692" cy="584775"/>
          </a:xfrm>
          <a:prstGeom prst="rect">
            <a:avLst/>
          </a:prstGeom>
          <a:noFill/>
        </p:spPr>
        <p:txBody>
          <a:bodyPr wrap="square" rtlCol="0">
            <a:spAutoFit/>
          </a:bodyPr>
          <a:lstStyle/>
          <a:p>
            <a:pPr algn="ctr"/>
            <a:r>
              <a:rPr lang="en-US" sz="3200" dirty="0">
                <a:solidFill>
                  <a:schemeClr val="bg1"/>
                </a:solidFill>
                <a:latin typeface="Times New Roman" panose="02020603050405020304" pitchFamily="18" charset="0"/>
                <a:cs typeface="Times New Roman" panose="02020603050405020304" pitchFamily="18" charset="0"/>
              </a:rPr>
              <a:t>26.54%</a:t>
            </a:r>
          </a:p>
        </p:txBody>
      </p:sp>
    </p:spTree>
    <p:extLst>
      <p:ext uri="{BB962C8B-B14F-4D97-AF65-F5344CB8AC3E}">
        <p14:creationId xmlns:p14="http://schemas.microsoft.com/office/powerpoint/2010/main" val="1799233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8D75A-8E08-40B1-9B64-B6B9AC459916}"/>
              </a:ext>
            </a:extLst>
          </p:cNvPr>
          <p:cNvSpPr>
            <a:spLocks noGrp="1"/>
          </p:cNvSpPr>
          <p:nvPr>
            <p:ph type="title"/>
          </p:nvPr>
        </p:nvSpPr>
        <p:spPr>
          <a:xfrm>
            <a:off x="1322439" y="344346"/>
            <a:ext cx="7487264" cy="442234"/>
          </a:xfrm>
        </p:spPr>
        <p:txBody>
          <a:bodyPr>
            <a:normAutofit fontScale="90000"/>
          </a:bodyPr>
          <a:lstStyle/>
          <a:p>
            <a:r>
              <a:rPr lang="en-US" sz="4400" dirty="0">
                <a:latin typeface="Times New Roman" panose="02020603050405020304" pitchFamily="18" charset="0"/>
                <a:cs typeface="Times New Roman" panose="02020603050405020304" pitchFamily="18" charset="0"/>
              </a:rPr>
              <a:t>DATASET summary</a:t>
            </a:r>
          </a:p>
        </p:txBody>
      </p:sp>
      <p:sp>
        <p:nvSpPr>
          <p:cNvPr id="3" name="Content Placeholder 2">
            <a:extLst>
              <a:ext uri="{FF2B5EF4-FFF2-40B4-BE49-F238E27FC236}">
                <a16:creationId xmlns:a16="http://schemas.microsoft.com/office/drawing/2014/main" id="{E7B07D94-DBBC-4951-90F1-27BF83B440B8}"/>
              </a:ext>
            </a:extLst>
          </p:cNvPr>
          <p:cNvSpPr>
            <a:spLocks noGrp="1"/>
          </p:cNvSpPr>
          <p:nvPr>
            <p:ph idx="1"/>
          </p:nvPr>
        </p:nvSpPr>
        <p:spPr>
          <a:xfrm>
            <a:off x="580103" y="993058"/>
            <a:ext cx="10926097" cy="5643716"/>
          </a:xfrm>
        </p:spPr>
        <p:txBody>
          <a:bodyPr/>
          <a:lstStyle/>
          <a:p>
            <a:pPr marL="0" indent="0" algn="ctr">
              <a:buNone/>
            </a:pPr>
            <a:r>
              <a:rPr lang="en-US" sz="2400" b="1" u="sng" dirty="0">
                <a:latin typeface="Times New Roman" panose="02020603050405020304" pitchFamily="18" charset="0"/>
                <a:cs typeface="Times New Roman" panose="02020603050405020304" pitchFamily="18" charset="0"/>
              </a:rPr>
              <a:t>Dataset Description</a:t>
            </a:r>
          </a:p>
          <a:p>
            <a:pPr marL="0" indent="0">
              <a:buNone/>
            </a:pPr>
            <a:r>
              <a:rPr lang="en-US" dirty="0">
                <a:latin typeface="Times New Roman" panose="02020603050405020304" pitchFamily="18" charset="0"/>
                <a:cs typeface="Times New Roman" panose="02020603050405020304" pitchFamily="18" charset="0"/>
              </a:rPr>
              <a:t>The Telco Customer Churn datasets contains customer demographic information, service subscriptions, billing details, and churn status.</a:t>
            </a:r>
          </a:p>
          <a:p>
            <a:pPr marL="0" indent="0">
              <a:buNone/>
            </a:pPr>
            <a:endParaRPr lang="en-US" dirty="0">
              <a:latin typeface="Times New Roman" panose="02020603050405020304" pitchFamily="18" charset="0"/>
              <a:cs typeface="Times New Roman" panose="02020603050405020304" pitchFamily="18" charset="0"/>
            </a:endParaRPr>
          </a:p>
          <a:p>
            <a:pPr marL="0" indent="0" algn="ctr">
              <a:buNone/>
            </a:pPr>
            <a:r>
              <a:rPr lang="en-US" sz="2400" b="1" u="sng" dirty="0">
                <a:latin typeface="Times New Roman" panose="02020603050405020304" pitchFamily="18" charset="0"/>
                <a:cs typeface="Times New Roman" panose="02020603050405020304" pitchFamily="18" charset="0"/>
              </a:rPr>
              <a:t>Datasets Summary</a:t>
            </a:r>
          </a:p>
        </p:txBody>
      </p:sp>
      <p:graphicFrame>
        <p:nvGraphicFramePr>
          <p:cNvPr id="4" name="Table 4">
            <a:extLst>
              <a:ext uri="{FF2B5EF4-FFF2-40B4-BE49-F238E27FC236}">
                <a16:creationId xmlns:a16="http://schemas.microsoft.com/office/drawing/2014/main" id="{403FD22A-CC97-4EFD-943B-8C743A32F4D7}"/>
              </a:ext>
            </a:extLst>
          </p:cNvPr>
          <p:cNvGraphicFramePr>
            <a:graphicFrameLocks noGrp="1"/>
          </p:cNvGraphicFramePr>
          <p:nvPr>
            <p:extLst>
              <p:ext uri="{D42A27DB-BD31-4B8C-83A1-F6EECF244321}">
                <p14:modId xmlns:p14="http://schemas.microsoft.com/office/powerpoint/2010/main" val="1895443296"/>
              </p:ext>
            </p:extLst>
          </p:nvPr>
        </p:nvGraphicFramePr>
        <p:xfrm>
          <a:off x="850490" y="3429000"/>
          <a:ext cx="5732206" cy="2481928"/>
        </p:xfrm>
        <a:graphic>
          <a:graphicData uri="http://schemas.openxmlformats.org/drawingml/2006/table">
            <a:tbl>
              <a:tblPr firstRow="1" bandRow="1">
                <a:tableStyleId>{5C22544A-7EE6-4342-B048-85BDC9FD1C3A}</a:tableStyleId>
              </a:tblPr>
              <a:tblGrid>
                <a:gridCol w="2489855">
                  <a:extLst>
                    <a:ext uri="{9D8B030D-6E8A-4147-A177-3AD203B41FA5}">
                      <a16:colId xmlns:a16="http://schemas.microsoft.com/office/drawing/2014/main" val="2617742438"/>
                    </a:ext>
                  </a:extLst>
                </a:gridCol>
                <a:gridCol w="3242351">
                  <a:extLst>
                    <a:ext uri="{9D8B030D-6E8A-4147-A177-3AD203B41FA5}">
                      <a16:colId xmlns:a16="http://schemas.microsoft.com/office/drawing/2014/main" val="2484093587"/>
                    </a:ext>
                  </a:extLst>
                </a:gridCol>
              </a:tblGrid>
              <a:tr h="378432">
                <a:tc>
                  <a:txBody>
                    <a:bodyPr/>
                    <a:lstStyle/>
                    <a:p>
                      <a:r>
                        <a:rPr lang="en-US" sz="2000" dirty="0">
                          <a:latin typeface="Times New Roman" panose="02020603050405020304" pitchFamily="18" charset="0"/>
                          <a:cs typeface="Times New Roman" panose="02020603050405020304" pitchFamily="18" charset="0"/>
                        </a:rPr>
                        <a:t>KPIs</a:t>
                      </a:r>
                    </a:p>
                  </a:txBody>
                  <a:tcPr/>
                </a:tc>
                <a:tc>
                  <a:txBody>
                    <a:bodyPr/>
                    <a:lstStyle/>
                    <a:p>
                      <a:r>
                        <a:rPr lang="en-US" sz="2000" dirty="0">
                          <a:latin typeface="Times New Roman" panose="02020603050405020304" pitchFamily="18" charset="0"/>
                          <a:cs typeface="Times New Roman" panose="02020603050405020304" pitchFamily="18" charset="0"/>
                        </a:rPr>
                        <a:t>Value</a:t>
                      </a:r>
                    </a:p>
                  </a:txBody>
                  <a:tcPr/>
                </a:tc>
                <a:extLst>
                  <a:ext uri="{0D108BD9-81ED-4DB2-BD59-A6C34878D82A}">
                    <a16:rowId xmlns:a16="http://schemas.microsoft.com/office/drawing/2014/main" val="1371274228"/>
                  </a:ext>
                </a:extLst>
              </a:tr>
              <a:tr h="384389">
                <a:tc>
                  <a:txBody>
                    <a:bodyPr/>
                    <a:lstStyle/>
                    <a:p>
                      <a:r>
                        <a:rPr lang="en-US" sz="2000" dirty="0">
                          <a:latin typeface="Times New Roman" panose="02020603050405020304" pitchFamily="18" charset="0"/>
                          <a:cs typeface="Times New Roman" panose="02020603050405020304" pitchFamily="18" charset="0"/>
                        </a:rPr>
                        <a:t>Churn Rate</a:t>
                      </a:r>
                    </a:p>
                  </a:txBody>
                  <a:tcPr/>
                </a:tc>
                <a:tc>
                  <a:txBody>
                    <a:bodyPr/>
                    <a:lstStyle/>
                    <a:p>
                      <a:r>
                        <a:rPr lang="en-US" sz="2000" dirty="0">
                          <a:latin typeface="Times New Roman" panose="02020603050405020304" pitchFamily="18" charset="0"/>
                          <a:cs typeface="Times New Roman" panose="02020603050405020304" pitchFamily="18" charset="0"/>
                        </a:rPr>
                        <a:t>26.54%</a:t>
                      </a:r>
                    </a:p>
                  </a:txBody>
                  <a:tcPr/>
                </a:tc>
                <a:extLst>
                  <a:ext uri="{0D108BD9-81ED-4DB2-BD59-A6C34878D82A}">
                    <a16:rowId xmlns:a16="http://schemas.microsoft.com/office/drawing/2014/main" val="3453845177"/>
                  </a:ext>
                </a:extLst>
              </a:tr>
              <a:tr h="452648">
                <a:tc>
                  <a:txBody>
                    <a:bodyPr/>
                    <a:lstStyle/>
                    <a:p>
                      <a:r>
                        <a:rPr lang="en-US" sz="2000" dirty="0">
                          <a:latin typeface="Times New Roman" panose="02020603050405020304" pitchFamily="18" charset="0"/>
                          <a:cs typeface="Times New Roman" panose="02020603050405020304" pitchFamily="18" charset="0"/>
                        </a:rPr>
                        <a:t>Churned Customers</a:t>
                      </a:r>
                    </a:p>
                  </a:txBody>
                  <a:tcPr/>
                </a:tc>
                <a:tc>
                  <a:txBody>
                    <a:bodyPr/>
                    <a:lstStyle/>
                    <a:p>
                      <a:r>
                        <a:rPr lang="en-US" sz="2000" dirty="0">
                          <a:latin typeface="Times New Roman" panose="02020603050405020304" pitchFamily="18" charset="0"/>
                          <a:cs typeface="Times New Roman" panose="02020603050405020304" pitchFamily="18" charset="0"/>
                        </a:rPr>
                        <a:t>1,869k</a:t>
                      </a:r>
                    </a:p>
                  </a:txBody>
                  <a:tcPr/>
                </a:tc>
                <a:extLst>
                  <a:ext uri="{0D108BD9-81ED-4DB2-BD59-A6C34878D82A}">
                    <a16:rowId xmlns:a16="http://schemas.microsoft.com/office/drawing/2014/main" val="2715097507"/>
                  </a:ext>
                </a:extLst>
              </a:tr>
              <a:tr h="444320">
                <a:tc>
                  <a:txBody>
                    <a:bodyPr/>
                    <a:lstStyle/>
                    <a:p>
                      <a:r>
                        <a:rPr lang="en-US" sz="2000" dirty="0">
                          <a:latin typeface="Times New Roman" panose="02020603050405020304" pitchFamily="18" charset="0"/>
                          <a:cs typeface="Times New Roman" panose="02020603050405020304" pitchFamily="18" charset="0"/>
                        </a:rPr>
                        <a:t>Active Customers</a:t>
                      </a:r>
                    </a:p>
                  </a:txBody>
                  <a:tcPr/>
                </a:tc>
                <a:tc>
                  <a:txBody>
                    <a:bodyPr/>
                    <a:lstStyle/>
                    <a:p>
                      <a:r>
                        <a:rPr lang="en-US" sz="2000" dirty="0">
                          <a:latin typeface="Times New Roman" panose="02020603050405020304" pitchFamily="18" charset="0"/>
                          <a:cs typeface="Times New Roman" panose="02020603050405020304" pitchFamily="18" charset="0"/>
                        </a:rPr>
                        <a:t>5,174k</a:t>
                      </a:r>
                    </a:p>
                  </a:txBody>
                  <a:tcPr/>
                </a:tc>
                <a:extLst>
                  <a:ext uri="{0D108BD9-81ED-4DB2-BD59-A6C34878D82A}">
                    <a16:rowId xmlns:a16="http://schemas.microsoft.com/office/drawing/2014/main" val="3747842652"/>
                  </a:ext>
                </a:extLst>
              </a:tr>
              <a:tr h="384389">
                <a:tc>
                  <a:txBody>
                    <a:bodyPr/>
                    <a:lstStyle/>
                    <a:p>
                      <a:r>
                        <a:rPr lang="en-US" sz="2000" dirty="0">
                          <a:latin typeface="Times New Roman" panose="02020603050405020304" pitchFamily="18" charset="0"/>
                          <a:cs typeface="Times New Roman" panose="02020603050405020304" pitchFamily="18" charset="0"/>
                        </a:rPr>
                        <a:t>Total Customers</a:t>
                      </a:r>
                    </a:p>
                  </a:txBody>
                  <a:tcPr/>
                </a:tc>
                <a:tc>
                  <a:txBody>
                    <a:bodyPr/>
                    <a:lstStyle/>
                    <a:p>
                      <a:r>
                        <a:rPr lang="en-US" sz="2000" dirty="0">
                          <a:latin typeface="Times New Roman" panose="02020603050405020304" pitchFamily="18" charset="0"/>
                          <a:cs typeface="Times New Roman" panose="02020603050405020304" pitchFamily="18" charset="0"/>
                        </a:rPr>
                        <a:t>7,043k</a:t>
                      </a:r>
                    </a:p>
                  </a:txBody>
                  <a:tcPr/>
                </a:tc>
                <a:extLst>
                  <a:ext uri="{0D108BD9-81ED-4DB2-BD59-A6C34878D82A}">
                    <a16:rowId xmlns:a16="http://schemas.microsoft.com/office/drawing/2014/main" val="755189019"/>
                  </a:ext>
                </a:extLst>
              </a:tr>
              <a:tr h="384389">
                <a:tc>
                  <a:txBody>
                    <a:bodyPr/>
                    <a:lstStyle/>
                    <a:p>
                      <a:r>
                        <a:rPr lang="en-US" sz="2000" dirty="0">
                          <a:latin typeface="Times New Roman" panose="02020603050405020304" pitchFamily="18" charset="0"/>
                          <a:cs typeface="Times New Roman" panose="02020603050405020304" pitchFamily="18" charset="0"/>
                        </a:rPr>
                        <a:t>Avg Tenure</a:t>
                      </a:r>
                    </a:p>
                  </a:txBody>
                  <a:tcPr/>
                </a:tc>
                <a:tc>
                  <a:txBody>
                    <a:bodyPr/>
                    <a:lstStyle/>
                    <a:p>
                      <a:r>
                        <a:rPr lang="en-US" sz="2000" dirty="0">
                          <a:latin typeface="Times New Roman" panose="02020603050405020304" pitchFamily="18" charset="0"/>
                          <a:cs typeface="Times New Roman" panose="02020603050405020304" pitchFamily="18" charset="0"/>
                        </a:rPr>
                        <a:t>32.37</a:t>
                      </a:r>
                    </a:p>
                  </a:txBody>
                  <a:tcPr/>
                </a:tc>
                <a:extLst>
                  <a:ext uri="{0D108BD9-81ED-4DB2-BD59-A6C34878D82A}">
                    <a16:rowId xmlns:a16="http://schemas.microsoft.com/office/drawing/2014/main" val="764798226"/>
                  </a:ext>
                </a:extLst>
              </a:tr>
            </a:tbl>
          </a:graphicData>
        </a:graphic>
      </p:graphicFrame>
    </p:spTree>
    <p:extLst>
      <p:ext uri="{BB962C8B-B14F-4D97-AF65-F5344CB8AC3E}">
        <p14:creationId xmlns:p14="http://schemas.microsoft.com/office/powerpoint/2010/main" val="154405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599A7-8CD8-42EF-A5F3-2D295D1F53BD}"/>
              </a:ext>
            </a:extLst>
          </p:cNvPr>
          <p:cNvSpPr>
            <a:spLocks noGrp="1"/>
          </p:cNvSpPr>
          <p:nvPr>
            <p:ph type="title"/>
          </p:nvPr>
        </p:nvSpPr>
        <p:spPr>
          <a:xfrm>
            <a:off x="1184787" y="-7199"/>
            <a:ext cx="8610600" cy="1293028"/>
          </a:xfrm>
        </p:spPr>
        <p:txBody>
          <a:bodyPr/>
          <a:lstStyle/>
          <a:p>
            <a:r>
              <a:rPr lang="en-US" dirty="0"/>
              <a:t>Datasets overview</a:t>
            </a:r>
          </a:p>
        </p:txBody>
      </p:sp>
      <p:sp>
        <p:nvSpPr>
          <p:cNvPr id="3" name="Content Placeholder 2">
            <a:extLst>
              <a:ext uri="{FF2B5EF4-FFF2-40B4-BE49-F238E27FC236}">
                <a16:creationId xmlns:a16="http://schemas.microsoft.com/office/drawing/2014/main" id="{5A684441-ED30-46B6-9D41-0C8425886210}"/>
              </a:ext>
            </a:extLst>
          </p:cNvPr>
          <p:cNvSpPr>
            <a:spLocks noGrp="1"/>
          </p:cNvSpPr>
          <p:nvPr>
            <p:ph idx="1"/>
          </p:nvPr>
        </p:nvSpPr>
        <p:spPr>
          <a:xfrm>
            <a:off x="245807" y="1120878"/>
            <a:ext cx="11611896" cy="5181600"/>
          </a:xfrm>
        </p:spPr>
        <p:txBody>
          <a:bodyPr>
            <a:normAutofit lnSpcReduction="10000"/>
          </a:bodyPr>
          <a:lstStyle/>
          <a:p>
            <a:endParaRPr lang="en-US" dirty="0">
              <a:latin typeface="Times New Roman" panose="02020603050405020304" pitchFamily="18" charset="0"/>
              <a:cs typeface="Times New Roman" panose="02020603050405020304" pitchFamily="18" charset="0"/>
            </a:endParaRPr>
          </a:p>
          <a:p>
            <a:pPr marL="0" indent="0">
              <a:buNone/>
            </a:pPr>
            <a:r>
              <a:rPr lang="en-US" sz="2800" b="1" u="sng" dirty="0">
                <a:solidFill>
                  <a:schemeClr val="accent6">
                    <a:lumMod val="75000"/>
                  </a:schemeClr>
                </a:solidFill>
                <a:latin typeface="Times New Roman" panose="02020603050405020304" pitchFamily="18" charset="0"/>
                <a:cs typeface="Times New Roman" panose="02020603050405020304" pitchFamily="18" charset="0"/>
              </a:rPr>
              <a:t>Key Variables </a:t>
            </a:r>
            <a:r>
              <a:rPr lang="en-US" sz="2800" b="1" dirty="0">
                <a:solidFill>
                  <a:schemeClr val="accent6">
                    <a:lumMod val="75000"/>
                  </a:schemeClr>
                </a:solidFill>
                <a:latin typeface="Times New Roman" panose="02020603050405020304" pitchFamily="18" charset="0"/>
                <a:cs typeface="Times New Roman" panose="02020603050405020304" pitchFamily="18" charset="0"/>
              </a:rPr>
              <a:t>                                                    </a:t>
            </a:r>
            <a:r>
              <a:rPr lang="en-US" sz="2800" b="1" u="sng" dirty="0">
                <a:solidFill>
                  <a:schemeClr val="accent6">
                    <a:lumMod val="75000"/>
                  </a:schemeClr>
                </a:solidFill>
                <a:latin typeface="Times New Roman" panose="02020603050405020304" pitchFamily="18" charset="0"/>
                <a:cs typeface="Times New Roman" panose="02020603050405020304" pitchFamily="18" charset="0"/>
              </a:rPr>
              <a:t>Data Preparation</a:t>
            </a:r>
          </a:p>
          <a:p>
            <a:r>
              <a:rPr lang="en-US" dirty="0">
                <a:latin typeface="Times New Roman" panose="02020603050405020304" pitchFamily="18" charset="0"/>
                <a:cs typeface="Times New Roman" panose="02020603050405020304" pitchFamily="18" charset="0"/>
              </a:rPr>
              <a:t>Senior Citizen                                                                   ~  Checked data quality</a:t>
            </a:r>
          </a:p>
          <a:p>
            <a:r>
              <a:rPr lang="en-US" dirty="0">
                <a:latin typeface="Times New Roman" panose="02020603050405020304" pitchFamily="18" charset="0"/>
                <a:cs typeface="Times New Roman" panose="02020603050405020304" pitchFamily="18" charset="0"/>
              </a:rPr>
              <a:t>Tenure                                                                               ~  Created Tenure Group</a:t>
            </a:r>
          </a:p>
          <a:p>
            <a:r>
              <a:rPr lang="en-US" dirty="0">
                <a:latin typeface="Times New Roman" panose="02020603050405020304" pitchFamily="18" charset="0"/>
                <a:cs typeface="Times New Roman" panose="02020603050405020304" pitchFamily="18" charset="0"/>
              </a:rPr>
              <a:t>Churn                                                                                ~  Created Monthly Charges Groups</a:t>
            </a:r>
          </a:p>
          <a:p>
            <a:r>
              <a:rPr lang="en-US" dirty="0">
                <a:latin typeface="Times New Roman" panose="02020603050405020304" pitchFamily="18" charset="0"/>
                <a:cs typeface="Times New Roman" panose="02020603050405020304" pitchFamily="18" charset="0"/>
              </a:rPr>
              <a:t>Gender                                                                              ~  Developed Churn measures using DAX</a:t>
            </a:r>
          </a:p>
          <a:p>
            <a:r>
              <a:rPr lang="en-US" dirty="0">
                <a:latin typeface="Times New Roman" panose="02020603050405020304" pitchFamily="18" charset="0"/>
                <a:cs typeface="Times New Roman" panose="02020603050405020304" pitchFamily="18" charset="0"/>
              </a:rPr>
              <a:t>Partner                                                                              ~  Created Correlation Heatmap</a:t>
            </a:r>
          </a:p>
          <a:p>
            <a:r>
              <a:rPr lang="en-US" dirty="0">
                <a:latin typeface="Times New Roman" panose="02020603050405020304" pitchFamily="18" charset="0"/>
                <a:cs typeface="Times New Roman" panose="02020603050405020304" pitchFamily="18" charset="0"/>
              </a:rPr>
              <a:t>Contract Type</a:t>
            </a:r>
          </a:p>
          <a:p>
            <a:r>
              <a:rPr lang="en-US" dirty="0">
                <a:latin typeface="Times New Roman" panose="02020603050405020304" pitchFamily="18" charset="0"/>
                <a:cs typeface="Times New Roman" panose="02020603050405020304" pitchFamily="18" charset="0"/>
              </a:rPr>
              <a:t>Dependents</a:t>
            </a:r>
          </a:p>
          <a:p>
            <a:r>
              <a:rPr lang="en-US" dirty="0">
                <a:latin typeface="Times New Roman" panose="02020603050405020304" pitchFamily="18" charset="0"/>
                <a:cs typeface="Times New Roman" panose="02020603050405020304" pitchFamily="18" charset="0"/>
              </a:rPr>
              <a:t>Internet Service</a:t>
            </a:r>
          </a:p>
          <a:p>
            <a:r>
              <a:rPr lang="en-US" dirty="0">
                <a:latin typeface="Times New Roman" panose="02020603050405020304" pitchFamily="18" charset="0"/>
                <a:cs typeface="Times New Roman" panose="02020603050405020304" pitchFamily="18" charset="0"/>
              </a:rPr>
              <a:t>Payment Method</a:t>
            </a:r>
          </a:p>
          <a:p>
            <a:r>
              <a:rPr lang="en-US" dirty="0">
                <a:latin typeface="Times New Roman" panose="02020603050405020304" pitchFamily="18" charset="0"/>
                <a:cs typeface="Times New Roman" panose="02020603050405020304" pitchFamily="18" charset="0"/>
              </a:rPr>
              <a:t>Monthly Charges</a:t>
            </a:r>
          </a:p>
          <a:p>
            <a:r>
              <a:rPr lang="en-US" dirty="0">
                <a:latin typeface="Times New Roman" panose="02020603050405020304" pitchFamily="18" charset="0"/>
                <a:cs typeface="Times New Roman" panose="02020603050405020304" pitchFamily="18" charset="0"/>
              </a:rPr>
              <a:t>Total Charges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7490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4DBC7-D4CF-4084-854B-3E5952B9EB7B}"/>
              </a:ext>
            </a:extLst>
          </p:cNvPr>
          <p:cNvSpPr>
            <a:spLocks noGrp="1"/>
          </p:cNvSpPr>
          <p:nvPr>
            <p:ph type="title"/>
          </p:nvPr>
        </p:nvSpPr>
        <p:spPr>
          <a:xfrm>
            <a:off x="498987" y="352161"/>
            <a:ext cx="9207910" cy="416555"/>
          </a:xfrm>
        </p:spPr>
        <p:txBody>
          <a:bodyPr>
            <a:normAutofit fontScale="90000"/>
          </a:bodyPr>
          <a:lstStyle/>
          <a:p>
            <a:r>
              <a:rPr lang="en-US" dirty="0">
                <a:latin typeface="Times New Roman" panose="02020603050405020304" pitchFamily="18" charset="0"/>
                <a:cs typeface="Times New Roman" panose="02020603050405020304" pitchFamily="18" charset="0"/>
              </a:rPr>
              <a:t>EXECUTIVE OVERVIEW FINDINGS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28ABCB-4FB5-4FE9-B57B-C0FCC1334987}"/>
              </a:ext>
            </a:extLst>
          </p:cNvPr>
          <p:cNvSpPr>
            <a:spLocks noGrp="1"/>
          </p:cNvSpPr>
          <p:nvPr>
            <p:ph idx="1"/>
          </p:nvPr>
        </p:nvSpPr>
        <p:spPr>
          <a:xfrm>
            <a:off x="167148" y="560439"/>
            <a:ext cx="11339052" cy="6153675"/>
          </a:xfrm>
        </p:spPr>
        <p:txBody>
          <a:bodyPr>
            <a:normAutofit lnSpcReduction="10000"/>
          </a:bodyPr>
          <a:lstStyle/>
          <a:p>
            <a:pPr marL="0" indent="0" algn="ctr">
              <a:buNone/>
            </a:pPr>
            <a:r>
              <a:rPr lang="en-US" sz="2400" b="1" u="sng" dirty="0">
                <a:latin typeface="Times New Roman" panose="02020603050405020304" pitchFamily="18" charset="0"/>
                <a:cs typeface="Times New Roman" panose="02020603050405020304" pitchFamily="18" charset="0"/>
              </a:rPr>
              <a:t>Overall Churn Performance</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lgn="ctr">
              <a:buNone/>
            </a:pPr>
            <a:endParaRPr lang="en-US" sz="2400" dirty="0">
              <a:latin typeface="Times New Roman" panose="02020603050405020304" pitchFamily="18" charset="0"/>
              <a:cs typeface="Times New Roman" panose="02020603050405020304" pitchFamily="18" charset="0"/>
            </a:endParaRPr>
          </a:p>
          <a:p>
            <a:pPr marL="0" indent="0" algn="ctr">
              <a:buNone/>
            </a:pPr>
            <a:endParaRPr lang="en-US" sz="2400" dirty="0">
              <a:latin typeface="Times New Roman" panose="02020603050405020304" pitchFamily="18" charset="0"/>
              <a:cs typeface="Times New Roman" panose="02020603050405020304" pitchFamily="18" charset="0"/>
            </a:endParaRPr>
          </a:p>
          <a:p>
            <a:pPr marL="0" indent="0" algn="ctr">
              <a:buNone/>
            </a:pPr>
            <a:r>
              <a:rPr lang="en-US" sz="2400" b="1" u="sng" dirty="0">
                <a:latin typeface="Times New Roman" panose="02020603050405020304" pitchFamily="18" charset="0"/>
                <a:cs typeface="Times New Roman" panose="02020603050405020304" pitchFamily="18" charset="0"/>
              </a:rPr>
              <a:t>Key Findings</a:t>
            </a:r>
          </a:p>
          <a:p>
            <a:r>
              <a:rPr lang="en-US" dirty="0">
                <a:latin typeface="Times New Roman" panose="02020603050405020304" pitchFamily="18" charset="0"/>
                <a:cs typeface="Times New Roman" panose="02020603050405020304" pitchFamily="18" charset="0"/>
              </a:rPr>
              <a:t>The overall churn rate stands at 26.54%.</a:t>
            </a:r>
          </a:p>
          <a:p>
            <a:r>
              <a:rPr lang="en-US" dirty="0">
                <a:latin typeface="Times New Roman" panose="02020603050405020304" pitchFamily="18" charset="0"/>
                <a:cs typeface="Times New Roman" panose="02020603050405020304" pitchFamily="18" charset="0"/>
              </a:rPr>
              <a:t>Approximately 1 in 4 customers have discontinued using the company’s services.</a:t>
            </a:r>
          </a:p>
          <a:p>
            <a:r>
              <a:rPr lang="en-US" dirty="0">
                <a:latin typeface="Times New Roman" panose="02020603050405020304" pitchFamily="18" charset="0"/>
                <a:cs typeface="Times New Roman" panose="02020603050405020304" pitchFamily="18" charset="0"/>
              </a:rPr>
              <a:t>Active customers still make up the larger share of customer base.</a:t>
            </a:r>
          </a:p>
          <a:p>
            <a:r>
              <a:rPr lang="en-US" dirty="0">
                <a:latin typeface="Times New Roman" panose="02020603050405020304" pitchFamily="18" charset="0"/>
                <a:cs typeface="Times New Roman" panose="02020603050405020304" pitchFamily="18" charset="0"/>
              </a:rPr>
              <a:t>Customer retention continues to pose a major business challenge.</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BUSINESS IMPLICATION: Even a modest reduction in the churn rate could significantly improve revenue retention and contribute to stronger long-term business growth.</a:t>
            </a:r>
          </a:p>
        </p:txBody>
      </p:sp>
      <p:sp>
        <p:nvSpPr>
          <p:cNvPr id="8" name="Rectangle: Rounded Corners 7">
            <a:extLst>
              <a:ext uri="{FF2B5EF4-FFF2-40B4-BE49-F238E27FC236}">
                <a16:creationId xmlns:a16="http://schemas.microsoft.com/office/drawing/2014/main" id="{45AE6022-F3AB-4872-9708-4DB05CEF76E0}"/>
              </a:ext>
            </a:extLst>
          </p:cNvPr>
          <p:cNvSpPr/>
          <p:nvPr/>
        </p:nvSpPr>
        <p:spPr>
          <a:xfrm>
            <a:off x="4011562" y="953071"/>
            <a:ext cx="3785420" cy="2475929"/>
          </a:xfrm>
          <a:prstGeom prst="roundRect">
            <a:avLst>
              <a:gd name="adj" fmla="val 872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111C8BB-E0F3-404F-B019-DAE96AE492E0}"/>
              </a:ext>
            </a:extLst>
          </p:cNvPr>
          <p:cNvPicPr>
            <a:picLocks noChangeAspect="1"/>
          </p:cNvPicPr>
          <p:nvPr/>
        </p:nvPicPr>
        <p:blipFill>
          <a:blip r:embed="rId2"/>
          <a:stretch>
            <a:fillRect/>
          </a:stretch>
        </p:blipFill>
        <p:spPr>
          <a:xfrm>
            <a:off x="4091604" y="1110674"/>
            <a:ext cx="3625335" cy="2160722"/>
          </a:xfrm>
          <a:prstGeom prst="rect">
            <a:avLst/>
          </a:prstGeom>
          <a:noFill/>
          <a:ln w="28575">
            <a:solidFill>
              <a:schemeClr val="bg1">
                <a:lumMod val="95000"/>
                <a:lumOff val="5000"/>
              </a:schemeClr>
            </a:solidFill>
          </a:ln>
        </p:spPr>
      </p:pic>
    </p:spTree>
    <p:extLst>
      <p:ext uri="{BB962C8B-B14F-4D97-AF65-F5344CB8AC3E}">
        <p14:creationId xmlns:p14="http://schemas.microsoft.com/office/powerpoint/2010/main" val="1347656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683B2-3B9F-4960-BEBA-9B42A24A63E3}"/>
              </a:ext>
            </a:extLst>
          </p:cNvPr>
          <p:cNvSpPr>
            <a:spLocks noGrp="1"/>
          </p:cNvSpPr>
          <p:nvPr>
            <p:ph type="title"/>
          </p:nvPr>
        </p:nvSpPr>
        <p:spPr>
          <a:xfrm>
            <a:off x="1573162" y="0"/>
            <a:ext cx="9746226" cy="541785"/>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Customer churn analysis</a:t>
            </a:r>
          </a:p>
        </p:txBody>
      </p:sp>
      <p:sp>
        <p:nvSpPr>
          <p:cNvPr id="3" name="Content Placeholder 2">
            <a:extLst>
              <a:ext uri="{FF2B5EF4-FFF2-40B4-BE49-F238E27FC236}">
                <a16:creationId xmlns:a16="http://schemas.microsoft.com/office/drawing/2014/main" id="{14B526A8-94D2-4081-8A8D-47FB49FE1A31}"/>
              </a:ext>
            </a:extLst>
          </p:cNvPr>
          <p:cNvSpPr>
            <a:spLocks noGrp="1"/>
          </p:cNvSpPr>
          <p:nvPr>
            <p:ph idx="1"/>
          </p:nvPr>
        </p:nvSpPr>
        <p:spPr>
          <a:xfrm>
            <a:off x="137652" y="541786"/>
            <a:ext cx="11926529" cy="6198802"/>
          </a:xfrm>
        </p:spPr>
        <p:txBody>
          <a:bodyPr>
            <a:normAutofit fontScale="85000" lnSpcReduction="20000"/>
          </a:bodyPr>
          <a:lstStyle/>
          <a:p>
            <a:pPr marL="0" indent="0" algn="ctr">
              <a:buNone/>
            </a:pPr>
            <a:r>
              <a:rPr lang="en-US" sz="2400" b="1" u="sng" dirty="0">
                <a:latin typeface="Times New Roman" panose="02020603050405020304" pitchFamily="18" charset="0"/>
                <a:cs typeface="Times New Roman" panose="02020603050405020304" pitchFamily="18" charset="0"/>
              </a:rPr>
              <a:t>Which Customers are leaving?</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lgn="ctr">
              <a:buNone/>
            </a:pPr>
            <a:endParaRPr lang="en-US" sz="2400" u="sng" dirty="0">
              <a:latin typeface="Times New Roman" panose="02020603050405020304" pitchFamily="18" charset="0"/>
              <a:cs typeface="Times New Roman" panose="02020603050405020304" pitchFamily="18" charset="0"/>
            </a:endParaRPr>
          </a:p>
          <a:p>
            <a:pPr marL="0" indent="0" algn="ctr">
              <a:buNone/>
            </a:pPr>
            <a:endParaRPr lang="en-US" sz="2400" u="sng" dirty="0">
              <a:latin typeface="Times New Roman" panose="02020603050405020304" pitchFamily="18" charset="0"/>
              <a:cs typeface="Times New Roman" panose="02020603050405020304" pitchFamily="18" charset="0"/>
            </a:endParaRPr>
          </a:p>
          <a:p>
            <a:pPr marL="0" indent="0" algn="ctr">
              <a:buNone/>
            </a:pPr>
            <a:endParaRPr lang="en-US" sz="2400" u="sng" dirty="0">
              <a:latin typeface="Times New Roman" panose="02020603050405020304" pitchFamily="18" charset="0"/>
              <a:cs typeface="Times New Roman" panose="02020603050405020304" pitchFamily="18" charset="0"/>
            </a:endParaRPr>
          </a:p>
          <a:p>
            <a:pPr marL="0" indent="0" algn="ctr">
              <a:buNone/>
            </a:pPr>
            <a:endParaRPr lang="en-US" sz="2400" u="sng" dirty="0">
              <a:latin typeface="Times New Roman" panose="02020603050405020304" pitchFamily="18" charset="0"/>
              <a:cs typeface="Times New Roman" panose="02020603050405020304" pitchFamily="18" charset="0"/>
            </a:endParaRPr>
          </a:p>
          <a:p>
            <a:pPr marL="0" indent="0" algn="ctr">
              <a:buNone/>
            </a:pPr>
            <a:endParaRPr lang="en-US" sz="2400" u="sng" dirty="0">
              <a:latin typeface="Times New Roman" panose="02020603050405020304" pitchFamily="18" charset="0"/>
              <a:cs typeface="Times New Roman" panose="02020603050405020304" pitchFamily="18" charset="0"/>
            </a:endParaRPr>
          </a:p>
          <a:p>
            <a:pPr marL="0" indent="0" algn="ctr">
              <a:buNone/>
            </a:pPr>
            <a:r>
              <a:rPr lang="en-US" sz="2400" b="1" u="sng" dirty="0">
                <a:latin typeface="Times New Roman" panose="02020603050405020304" pitchFamily="18" charset="0"/>
                <a:cs typeface="Times New Roman" panose="02020603050405020304" pitchFamily="18" charset="0"/>
              </a:rPr>
              <a:t>Findings</a:t>
            </a:r>
          </a:p>
          <a:p>
            <a:r>
              <a:rPr lang="en-US" b="1" u="sng" dirty="0">
                <a:latin typeface="Times New Roman" panose="02020603050405020304" pitchFamily="18" charset="0"/>
                <a:cs typeface="Times New Roman" panose="02020603050405020304" pitchFamily="18" charset="0"/>
              </a:rPr>
              <a:t>Tenure</a:t>
            </a:r>
            <a:r>
              <a:rPr lang="en-US" dirty="0">
                <a:latin typeface="Times New Roman" panose="02020603050405020304" pitchFamily="18" charset="0"/>
                <a:cs typeface="Times New Roman" panose="02020603050405020304" pitchFamily="18" charset="0"/>
              </a:rPr>
              <a:t>: Customers with shorter service durations are considerably more likely to churn, while those with longer tenures tend to remain loyal.</a:t>
            </a:r>
          </a:p>
          <a:p>
            <a:r>
              <a:rPr lang="en-US" b="1" u="sng" dirty="0">
                <a:latin typeface="Times New Roman" panose="02020603050405020304" pitchFamily="18" charset="0"/>
                <a:cs typeface="Times New Roman" panose="02020603050405020304" pitchFamily="18" charset="0"/>
              </a:rPr>
              <a:t>Monthly Charges</a:t>
            </a:r>
            <a:r>
              <a:rPr lang="en-US" dirty="0">
                <a:latin typeface="Times New Roman" panose="02020603050405020304" pitchFamily="18" charset="0"/>
                <a:cs typeface="Times New Roman" panose="02020603050405020304" pitchFamily="18" charset="0"/>
              </a:rPr>
              <a:t>: Customers with higher monthly subscription fees have a greater likelihood of discontinuing the services.</a:t>
            </a:r>
          </a:p>
          <a:p>
            <a:r>
              <a:rPr lang="en-US" b="1" u="sng" dirty="0">
                <a:latin typeface="Times New Roman" panose="02020603050405020304" pitchFamily="18" charset="0"/>
                <a:cs typeface="Times New Roman" panose="02020603050405020304" pitchFamily="18" charset="0"/>
              </a:rPr>
              <a:t>Senior Citizens</a:t>
            </a:r>
            <a:r>
              <a:rPr lang="en-US" dirty="0">
                <a:latin typeface="Times New Roman" panose="02020603050405020304" pitchFamily="18" charset="0"/>
                <a:cs typeface="Times New Roman" panose="02020603050405020304" pitchFamily="18" charset="0"/>
              </a:rPr>
              <a:t>: Churn  is slightly more prevalent among senior citizens than among non-senior customers.</a:t>
            </a:r>
          </a:p>
          <a:p>
            <a:pPr marL="0" indent="0">
              <a:buNone/>
            </a:pPr>
            <a:r>
              <a:rPr lang="en-US" sz="2600" b="1" u="sng" dirty="0">
                <a:latin typeface="Times New Roman" panose="02020603050405020304" pitchFamily="18" charset="0"/>
                <a:cs typeface="Times New Roman" panose="02020603050405020304" pitchFamily="18" charset="0"/>
              </a:rPr>
              <a:t>Business Implication: </a:t>
            </a:r>
            <a:r>
              <a:rPr lang="en-US" dirty="0">
                <a:latin typeface="Times New Roman" panose="02020603050405020304" pitchFamily="18" charset="0"/>
                <a:cs typeface="Times New Roman" panose="02020603050405020304" pitchFamily="18" charset="0"/>
              </a:rPr>
              <a:t>The findings suggest  that businesses should prioritize targeted retention initiatives for newly acquired customers and subscribers with higher monthly charges to improve customer loyalty and reduce churn.</a:t>
            </a:r>
          </a:p>
        </p:txBody>
      </p:sp>
      <p:sp>
        <p:nvSpPr>
          <p:cNvPr id="4" name="Rectangle: Rounded Corners 3">
            <a:extLst>
              <a:ext uri="{FF2B5EF4-FFF2-40B4-BE49-F238E27FC236}">
                <a16:creationId xmlns:a16="http://schemas.microsoft.com/office/drawing/2014/main" id="{C25B928B-7D10-41A5-9A86-540F8E8E1DB6}"/>
              </a:ext>
            </a:extLst>
          </p:cNvPr>
          <p:cNvSpPr/>
          <p:nvPr/>
        </p:nvSpPr>
        <p:spPr>
          <a:xfrm>
            <a:off x="7768466" y="1111045"/>
            <a:ext cx="3983056" cy="2317955"/>
          </a:xfrm>
          <a:prstGeom prst="roundRect">
            <a:avLst>
              <a:gd name="adj" fmla="val 872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8CBF4B8C-4F95-4B06-8B05-A0592AF984CC}"/>
              </a:ext>
            </a:extLst>
          </p:cNvPr>
          <p:cNvSpPr/>
          <p:nvPr/>
        </p:nvSpPr>
        <p:spPr>
          <a:xfrm>
            <a:off x="4070555" y="1111044"/>
            <a:ext cx="3500283" cy="2317955"/>
          </a:xfrm>
          <a:prstGeom prst="roundRect">
            <a:avLst>
              <a:gd name="adj" fmla="val 872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17E75E3C-592B-4894-AE7E-2FFC9004A659}"/>
              </a:ext>
            </a:extLst>
          </p:cNvPr>
          <p:cNvSpPr/>
          <p:nvPr/>
        </p:nvSpPr>
        <p:spPr>
          <a:xfrm>
            <a:off x="635481" y="1111045"/>
            <a:ext cx="3231633" cy="2317954"/>
          </a:xfrm>
          <a:prstGeom prst="roundRect">
            <a:avLst>
              <a:gd name="adj" fmla="val 872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EC156956-DAD3-431D-9F43-794A68B186DE}"/>
              </a:ext>
            </a:extLst>
          </p:cNvPr>
          <p:cNvPicPr>
            <a:picLocks noChangeAspect="1"/>
          </p:cNvPicPr>
          <p:nvPr/>
        </p:nvPicPr>
        <p:blipFill>
          <a:blip r:embed="rId2"/>
          <a:stretch>
            <a:fillRect/>
          </a:stretch>
        </p:blipFill>
        <p:spPr>
          <a:xfrm>
            <a:off x="4268183" y="1291355"/>
            <a:ext cx="3105026" cy="1953869"/>
          </a:xfrm>
          <a:prstGeom prst="rect">
            <a:avLst/>
          </a:prstGeom>
          <a:noFill/>
          <a:ln w="28575">
            <a:solidFill>
              <a:schemeClr val="bg1">
                <a:lumMod val="95000"/>
                <a:lumOff val="5000"/>
              </a:schemeClr>
            </a:solidFill>
          </a:ln>
        </p:spPr>
      </p:pic>
      <p:pic>
        <p:nvPicPr>
          <p:cNvPr id="12" name="Picture 11">
            <a:extLst>
              <a:ext uri="{FF2B5EF4-FFF2-40B4-BE49-F238E27FC236}">
                <a16:creationId xmlns:a16="http://schemas.microsoft.com/office/drawing/2014/main" id="{1E256B16-6E2C-4461-8CFC-975397A033D8}"/>
              </a:ext>
            </a:extLst>
          </p:cNvPr>
          <p:cNvPicPr>
            <a:picLocks noChangeAspect="1"/>
          </p:cNvPicPr>
          <p:nvPr/>
        </p:nvPicPr>
        <p:blipFill>
          <a:blip r:embed="rId3"/>
          <a:stretch>
            <a:fillRect/>
          </a:stretch>
        </p:blipFill>
        <p:spPr>
          <a:xfrm>
            <a:off x="7914967" y="1291355"/>
            <a:ext cx="3656125" cy="1953869"/>
          </a:xfrm>
          <a:prstGeom prst="rect">
            <a:avLst/>
          </a:prstGeom>
          <a:noFill/>
          <a:ln w="28575">
            <a:solidFill>
              <a:schemeClr val="bg1">
                <a:lumMod val="95000"/>
                <a:lumOff val="5000"/>
              </a:schemeClr>
            </a:solidFill>
          </a:ln>
        </p:spPr>
      </p:pic>
      <p:pic>
        <p:nvPicPr>
          <p:cNvPr id="14" name="Picture 13">
            <a:extLst>
              <a:ext uri="{FF2B5EF4-FFF2-40B4-BE49-F238E27FC236}">
                <a16:creationId xmlns:a16="http://schemas.microsoft.com/office/drawing/2014/main" id="{687CDE77-1681-4CAF-9F97-6A6C50C0C76C}"/>
              </a:ext>
            </a:extLst>
          </p:cNvPr>
          <p:cNvPicPr>
            <a:picLocks noChangeAspect="1"/>
          </p:cNvPicPr>
          <p:nvPr/>
        </p:nvPicPr>
        <p:blipFill>
          <a:blip r:embed="rId4"/>
          <a:stretch>
            <a:fillRect/>
          </a:stretch>
        </p:blipFill>
        <p:spPr>
          <a:xfrm>
            <a:off x="853406" y="1291355"/>
            <a:ext cx="2795781" cy="1953869"/>
          </a:xfrm>
          <a:prstGeom prst="rect">
            <a:avLst/>
          </a:prstGeom>
          <a:noFill/>
          <a:ln w="28575">
            <a:solidFill>
              <a:schemeClr val="bg1">
                <a:lumMod val="95000"/>
                <a:lumOff val="5000"/>
              </a:schemeClr>
            </a:solidFill>
          </a:ln>
        </p:spPr>
      </p:pic>
    </p:spTree>
    <p:extLst>
      <p:ext uri="{BB962C8B-B14F-4D97-AF65-F5344CB8AC3E}">
        <p14:creationId xmlns:p14="http://schemas.microsoft.com/office/powerpoint/2010/main" val="1829617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BA79E-DCB3-4C3E-9A5E-B4D458A51931}"/>
              </a:ext>
            </a:extLst>
          </p:cNvPr>
          <p:cNvSpPr>
            <a:spLocks noGrp="1"/>
          </p:cNvSpPr>
          <p:nvPr>
            <p:ph type="title"/>
          </p:nvPr>
        </p:nvSpPr>
        <p:spPr>
          <a:xfrm>
            <a:off x="835742" y="68826"/>
            <a:ext cx="10670458" cy="471948"/>
          </a:xfrm>
        </p:spPr>
        <p:txBody>
          <a:bodyPr>
            <a:normAutofit fontScale="90000"/>
          </a:bodyPr>
          <a:lstStyle/>
          <a:p>
            <a:pPr algn="ctr"/>
            <a:r>
              <a:rPr lang="en-US" sz="3600" dirty="0">
                <a:solidFill>
                  <a:schemeClr val="accent3">
                    <a:lumMod val="20000"/>
                    <a:lumOff val="80000"/>
                  </a:schemeClr>
                </a:solidFill>
                <a:latin typeface="Times New Roman" panose="02020603050405020304" pitchFamily="18" charset="0"/>
                <a:cs typeface="Times New Roman" panose="02020603050405020304" pitchFamily="18" charset="0"/>
              </a:rPr>
              <a:t>Internet</a:t>
            </a:r>
            <a:r>
              <a:rPr lang="en-US" sz="3600" dirty="0">
                <a:solidFill>
                  <a:srgbClr val="00B0F0"/>
                </a:solidFill>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service</a:t>
            </a:r>
            <a:r>
              <a:rPr lang="en-US" sz="3600" dirty="0">
                <a:solidFill>
                  <a:srgbClr val="00B0F0"/>
                </a:solidFill>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and contract analysis</a:t>
            </a:r>
          </a:p>
        </p:txBody>
      </p:sp>
      <p:sp>
        <p:nvSpPr>
          <p:cNvPr id="3" name="Content Placeholder 2">
            <a:extLst>
              <a:ext uri="{FF2B5EF4-FFF2-40B4-BE49-F238E27FC236}">
                <a16:creationId xmlns:a16="http://schemas.microsoft.com/office/drawing/2014/main" id="{127F88F8-C735-4302-86B4-38569DAFE753}"/>
              </a:ext>
            </a:extLst>
          </p:cNvPr>
          <p:cNvSpPr>
            <a:spLocks noGrp="1"/>
          </p:cNvSpPr>
          <p:nvPr>
            <p:ph idx="1"/>
          </p:nvPr>
        </p:nvSpPr>
        <p:spPr>
          <a:xfrm>
            <a:off x="137652" y="540774"/>
            <a:ext cx="12054348" cy="6174658"/>
          </a:xfrm>
        </p:spPr>
        <p:txBody>
          <a:bodyPr>
            <a:normAutofit lnSpcReduction="10000"/>
          </a:body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lgn="ctr">
              <a:buNone/>
            </a:pPr>
            <a:endParaRPr lang="en-US" b="1" u="sng" dirty="0">
              <a:latin typeface="Times New Roman" panose="02020603050405020304" pitchFamily="18" charset="0"/>
              <a:cs typeface="Times New Roman" panose="02020603050405020304" pitchFamily="18" charset="0"/>
            </a:endParaRPr>
          </a:p>
          <a:p>
            <a:pPr marL="0" indent="0" algn="ctr">
              <a:buNone/>
            </a:pPr>
            <a:endParaRPr lang="en-US" b="1" u="sng" dirty="0">
              <a:latin typeface="Times New Roman" panose="02020603050405020304" pitchFamily="18" charset="0"/>
              <a:cs typeface="Times New Roman" panose="02020603050405020304" pitchFamily="18" charset="0"/>
            </a:endParaRPr>
          </a:p>
          <a:p>
            <a:pPr marL="0" indent="0" algn="ctr">
              <a:buNone/>
            </a:pPr>
            <a:r>
              <a:rPr lang="en-US" b="1" u="sng" dirty="0">
                <a:latin typeface="Times New Roman" panose="02020603050405020304" pitchFamily="18" charset="0"/>
                <a:cs typeface="Times New Roman" panose="02020603050405020304" pitchFamily="18" charset="0"/>
              </a:rPr>
              <a:t>Findings</a:t>
            </a:r>
          </a:p>
          <a:p>
            <a:pPr marL="0" indent="0">
              <a:buNone/>
            </a:pPr>
            <a:r>
              <a:rPr lang="en-US" b="1" u="sng" dirty="0">
                <a:latin typeface="Times New Roman" panose="02020603050405020304" pitchFamily="18" charset="0"/>
                <a:cs typeface="Times New Roman" panose="02020603050405020304" pitchFamily="18" charset="0"/>
              </a:rPr>
              <a:t>Churn by Contract Type</a:t>
            </a:r>
          </a:p>
          <a:p>
            <a:r>
              <a:rPr lang="en-US" dirty="0">
                <a:latin typeface="Times New Roman" panose="02020603050405020304" pitchFamily="18" charset="0"/>
                <a:cs typeface="Times New Roman" panose="02020603050405020304" pitchFamily="18" charset="0"/>
              </a:rPr>
              <a:t>Customers with </a:t>
            </a:r>
            <a:r>
              <a:rPr lang="en-US" b="1" dirty="0">
                <a:latin typeface="Times New Roman" panose="02020603050405020304" pitchFamily="18" charset="0"/>
                <a:cs typeface="Times New Roman" panose="02020603050405020304" pitchFamily="18" charset="0"/>
              </a:rPr>
              <a:t>Month-Month contracts </a:t>
            </a:r>
            <a:r>
              <a:rPr lang="en-US" dirty="0">
                <a:latin typeface="Times New Roman" panose="02020603050405020304" pitchFamily="18" charset="0"/>
                <a:cs typeface="Times New Roman" panose="02020603050405020304" pitchFamily="18" charset="0"/>
              </a:rPr>
              <a:t>have the highest churn rate</a:t>
            </a:r>
          </a:p>
          <a:p>
            <a:r>
              <a:rPr lang="en-US" dirty="0">
                <a:latin typeface="Times New Roman" panose="02020603050405020304" pitchFamily="18" charset="0"/>
                <a:cs typeface="Times New Roman" panose="02020603050405020304" pitchFamily="18" charset="0"/>
              </a:rPr>
              <a:t>Customers with </a:t>
            </a:r>
            <a:r>
              <a:rPr lang="en-US" b="1" dirty="0">
                <a:latin typeface="Times New Roman" panose="02020603050405020304" pitchFamily="18" charset="0"/>
                <a:cs typeface="Times New Roman" panose="02020603050405020304" pitchFamily="18" charset="0"/>
              </a:rPr>
              <a:t>one-year and two-year contracts </a:t>
            </a:r>
            <a:r>
              <a:rPr lang="en-US" dirty="0">
                <a:latin typeface="Times New Roman" panose="02020603050405020304" pitchFamily="18" charset="0"/>
                <a:cs typeface="Times New Roman" panose="02020603050405020304" pitchFamily="18" charset="0"/>
              </a:rPr>
              <a:t>are more likely to stay.</a:t>
            </a:r>
          </a:p>
          <a:p>
            <a:pPr marL="0" indent="0">
              <a:buNone/>
            </a:pPr>
            <a:r>
              <a:rPr lang="en-US" b="1" u="sng" dirty="0">
                <a:latin typeface="Times New Roman" panose="02020603050405020304" pitchFamily="18" charset="0"/>
                <a:cs typeface="Times New Roman" panose="02020603050405020304" pitchFamily="18" charset="0"/>
              </a:rPr>
              <a:t>Internet Service</a:t>
            </a:r>
          </a:p>
          <a:p>
            <a:r>
              <a:rPr lang="en-US" dirty="0">
                <a:latin typeface="Times New Roman" panose="02020603050405020304" pitchFamily="18" charset="0"/>
                <a:cs typeface="Times New Roman" panose="02020603050405020304" pitchFamily="18" charset="0"/>
              </a:rPr>
              <a:t>Fiber Optic customers experience the highest churn.</a:t>
            </a:r>
          </a:p>
          <a:p>
            <a:r>
              <a:rPr lang="en-US" dirty="0">
                <a:latin typeface="Times New Roman" panose="02020603050405020304" pitchFamily="18" charset="0"/>
                <a:cs typeface="Times New Roman" panose="02020603050405020304" pitchFamily="18" charset="0"/>
              </a:rPr>
              <a:t>DSL and No internet customers demonstrate stronger retention.</a:t>
            </a:r>
          </a:p>
          <a:p>
            <a:pPr marL="0" indent="0">
              <a:buNone/>
            </a:pPr>
            <a:r>
              <a:rPr lang="en-US" b="1" u="sng" dirty="0">
                <a:latin typeface="Times New Roman" panose="02020603050405020304" pitchFamily="18" charset="0"/>
                <a:cs typeface="Times New Roman" panose="02020603050405020304" pitchFamily="18" charset="0"/>
              </a:rPr>
              <a:t>Business Implication</a:t>
            </a:r>
            <a:r>
              <a:rPr lang="en-US" dirty="0">
                <a:latin typeface="Times New Roman" panose="02020603050405020304" pitchFamily="18" charset="0"/>
                <a:cs typeface="Times New Roman" panose="02020603050405020304" pitchFamily="18" charset="0"/>
              </a:rPr>
              <a:t>: Contract commitment and service experience strongly influence customer retention.</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4F9B7554-2BBA-460C-BDAA-FA08D6D13CF3}"/>
              </a:ext>
            </a:extLst>
          </p:cNvPr>
          <p:cNvSpPr/>
          <p:nvPr/>
        </p:nvSpPr>
        <p:spPr>
          <a:xfrm>
            <a:off x="2032383" y="833353"/>
            <a:ext cx="3812605" cy="2342391"/>
          </a:xfrm>
          <a:prstGeom prst="roundRect">
            <a:avLst>
              <a:gd name="adj" fmla="val 872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D443ECE-33E9-4860-87DA-B26A3DF292A5}"/>
              </a:ext>
            </a:extLst>
          </p:cNvPr>
          <p:cNvPicPr>
            <a:picLocks noChangeAspect="1"/>
          </p:cNvPicPr>
          <p:nvPr/>
        </p:nvPicPr>
        <p:blipFill>
          <a:blip r:embed="rId2"/>
          <a:stretch>
            <a:fillRect/>
          </a:stretch>
        </p:blipFill>
        <p:spPr>
          <a:xfrm>
            <a:off x="2134350" y="1012722"/>
            <a:ext cx="3608669" cy="2026313"/>
          </a:xfrm>
          <a:prstGeom prst="rect">
            <a:avLst/>
          </a:prstGeom>
        </p:spPr>
      </p:pic>
      <p:sp>
        <p:nvSpPr>
          <p:cNvPr id="10" name="Rectangle: Rounded Corners 9">
            <a:extLst>
              <a:ext uri="{FF2B5EF4-FFF2-40B4-BE49-F238E27FC236}">
                <a16:creationId xmlns:a16="http://schemas.microsoft.com/office/drawing/2014/main" id="{DEDE9C34-47D8-4573-836C-3DFE4808D2CB}"/>
              </a:ext>
            </a:extLst>
          </p:cNvPr>
          <p:cNvSpPr/>
          <p:nvPr/>
        </p:nvSpPr>
        <p:spPr>
          <a:xfrm>
            <a:off x="6216586" y="833353"/>
            <a:ext cx="3321862" cy="2342391"/>
          </a:xfrm>
          <a:prstGeom prst="roundRect">
            <a:avLst>
              <a:gd name="adj" fmla="val 872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6DC27BF-7388-4F69-B261-42B79DC355A8}"/>
              </a:ext>
            </a:extLst>
          </p:cNvPr>
          <p:cNvPicPr>
            <a:picLocks noChangeAspect="1"/>
          </p:cNvPicPr>
          <p:nvPr/>
        </p:nvPicPr>
        <p:blipFill>
          <a:blip r:embed="rId3"/>
          <a:stretch>
            <a:fillRect/>
          </a:stretch>
        </p:blipFill>
        <p:spPr>
          <a:xfrm>
            <a:off x="6364474" y="1012722"/>
            <a:ext cx="3026086" cy="2026313"/>
          </a:xfrm>
          <a:prstGeom prst="rect">
            <a:avLst/>
          </a:prstGeom>
        </p:spPr>
      </p:pic>
    </p:spTree>
    <p:extLst>
      <p:ext uri="{BB962C8B-B14F-4D97-AF65-F5344CB8AC3E}">
        <p14:creationId xmlns:p14="http://schemas.microsoft.com/office/powerpoint/2010/main" val="3998323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3667A-E059-4A06-8C1F-A97685FC9F34}"/>
              </a:ext>
            </a:extLst>
          </p:cNvPr>
          <p:cNvSpPr>
            <a:spLocks noGrp="1"/>
          </p:cNvSpPr>
          <p:nvPr>
            <p:ph type="title"/>
          </p:nvPr>
        </p:nvSpPr>
        <p:spPr>
          <a:xfrm>
            <a:off x="1049593" y="186813"/>
            <a:ext cx="11152239" cy="442452"/>
          </a:xfrm>
        </p:spPr>
        <p:txBody>
          <a:bodyPr>
            <a:normAutofit fontScale="90000"/>
          </a:bodyPr>
          <a:lstStyle/>
          <a:p>
            <a:pPr algn="ctr"/>
            <a:r>
              <a:rPr lang="en-US" sz="2800" dirty="0">
                <a:latin typeface="Times New Roman" panose="02020603050405020304" pitchFamily="18" charset="0"/>
                <a:cs typeface="Times New Roman" panose="02020603050405020304" pitchFamily="18" charset="0"/>
              </a:rPr>
              <a:t>Churn Driver and correlation analysis</a:t>
            </a:r>
          </a:p>
        </p:txBody>
      </p:sp>
      <p:sp>
        <p:nvSpPr>
          <p:cNvPr id="3" name="Content Placeholder 2">
            <a:extLst>
              <a:ext uri="{FF2B5EF4-FFF2-40B4-BE49-F238E27FC236}">
                <a16:creationId xmlns:a16="http://schemas.microsoft.com/office/drawing/2014/main" id="{27FACD1C-1FE2-431B-AB0F-2C86C12FBB4B}"/>
              </a:ext>
            </a:extLst>
          </p:cNvPr>
          <p:cNvSpPr>
            <a:spLocks noGrp="1"/>
          </p:cNvSpPr>
          <p:nvPr>
            <p:ph idx="1"/>
          </p:nvPr>
        </p:nvSpPr>
        <p:spPr>
          <a:xfrm>
            <a:off x="137651" y="530942"/>
            <a:ext cx="12064181" cy="6327058"/>
          </a:xfrm>
        </p:spPr>
        <p:txBody>
          <a:bodyPr>
            <a:normAutofit/>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endParaRPr lang="en-US" b="1" u="sng"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The correlation analysis indicates that customer tenure is the strongest driver of churn, with a moderate negative correlation (-0.352), suggesting that newer customers are more likely to leave the company. Monthly Charges show a weak positive relationship with churn (0.193), indicating that customers paying higher monthly fees have a slightly greater tendency to churn. Total Charges (-0.198) and Dependents (-0.164) exhibit weak negative relationships with churn, suggesting that long-standing customers and those with dependents are somewhat more likely to remain. Senior Citizen status has only a weak positive relationship with churn (0.151), while Phone Service (0.012) has virtually no impact on customer churn.</a:t>
            </a:r>
          </a:p>
        </p:txBody>
      </p:sp>
      <p:sp>
        <p:nvSpPr>
          <p:cNvPr id="5" name="Arrow: Right 4">
            <a:extLst>
              <a:ext uri="{FF2B5EF4-FFF2-40B4-BE49-F238E27FC236}">
                <a16:creationId xmlns:a16="http://schemas.microsoft.com/office/drawing/2014/main" id="{3602139A-80A4-4279-A20A-C6846A5EC1A1}"/>
              </a:ext>
            </a:extLst>
          </p:cNvPr>
          <p:cNvSpPr/>
          <p:nvPr/>
        </p:nvSpPr>
        <p:spPr>
          <a:xfrm rot="2683614">
            <a:off x="266049" y="456166"/>
            <a:ext cx="489877" cy="346198"/>
          </a:xfrm>
          <a:prstGeom prst="rightArrow">
            <a:avLst/>
          </a:prstGeom>
          <a:solidFill>
            <a:schemeClr val="tx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A8793715-54EE-4CA3-B662-6073E7556E54}"/>
              </a:ext>
            </a:extLst>
          </p:cNvPr>
          <p:cNvPicPr>
            <a:picLocks noChangeAspect="1"/>
          </p:cNvPicPr>
          <p:nvPr/>
        </p:nvPicPr>
        <p:blipFill>
          <a:blip r:embed="rId2"/>
          <a:stretch>
            <a:fillRect/>
          </a:stretch>
        </p:blipFill>
        <p:spPr>
          <a:xfrm>
            <a:off x="367947" y="999610"/>
            <a:ext cx="11187165" cy="2744022"/>
          </a:xfrm>
          <a:prstGeom prst="rect">
            <a:avLst/>
          </a:prstGeom>
        </p:spPr>
      </p:pic>
    </p:spTree>
    <p:extLst>
      <p:ext uri="{BB962C8B-B14F-4D97-AF65-F5344CB8AC3E}">
        <p14:creationId xmlns:p14="http://schemas.microsoft.com/office/powerpoint/2010/main" val="3585834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C310B-6A3C-432B-AEE2-C20E66A4265E}"/>
              </a:ext>
            </a:extLst>
          </p:cNvPr>
          <p:cNvSpPr>
            <a:spLocks noGrp="1"/>
          </p:cNvSpPr>
          <p:nvPr>
            <p:ph type="title"/>
          </p:nvPr>
        </p:nvSpPr>
        <p:spPr>
          <a:xfrm>
            <a:off x="-143123" y="136220"/>
            <a:ext cx="11371028" cy="786131"/>
          </a:xfrm>
        </p:spPr>
        <p:txBody>
          <a:bodyPr>
            <a:normAutofit/>
          </a:bodyPr>
          <a:lstStyle/>
          <a:p>
            <a:pPr algn="ctr"/>
            <a:r>
              <a:rPr lang="en-US" dirty="0">
                <a:latin typeface="Algerian" panose="04020705040A02060702" pitchFamily="82" charset="0"/>
              </a:rPr>
              <a:t>Dashboard overview</a:t>
            </a:r>
          </a:p>
        </p:txBody>
      </p:sp>
      <p:pic>
        <p:nvPicPr>
          <p:cNvPr id="5" name="Content Placeholder 4">
            <a:extLst>
              <a:ext uri="{FF2B5EF4-FFF2-40B4-BE49-F238E27FC236}">
                <a16:creationId xmlns:a16="http://schemas.microsoft.com/office/drawing/2014/main" id="{7E26DBD6-C6FE-4B16-A636-2C7A057C9910}"/>
              </a:ext>
            </a:extLst>
          </p:cNvPr>
          <p:cNvPicPr>
            <a:picLocks noGrp="1" noChangeAspect="1"/>
          </p:cNvPicPr>
          <p:nvPr>
            <p:ph idx="1"/>
          </p:nvPr>
        </p:nvPicPr>
        <p:blipFill>
          <a:blip r:embed="rId2"/>
          <a:stretch>
            <a:fillRect/>
          </a:stretch>
        </p:blipFill>
        <p:spPr>
          <a:xfrm>
            <a:off x="593558" y="851502"/>
            <a:ext cx="10804358" cy="5870278"/>
          </a:xfrm>
        </p:spPr>
      </p:pic>
    </p:spTree>
    <p:extLst>
      <p:ext uri="{BB962C8B-B14F-4D97-AF65-F5344CB8AC3E}">
        <p14:creationId xmlns:p14="http://schemas.microsoft.com/office/powerpoint/2010/main" val="2403474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F3293-3BD5-414F-A97D-7582D5DE9E73}"/>
              </a:ext>
            </a:extLst>
          </p:cNvPr>
          <p:cNvSpPr>
            <a:spLocks noGrp="1"/>
          </p:cNvSpPr>
          <p:nvPr>
            <p:ph type="title"/>
          </p:nvPr>
        </p:nvSpPr>
        <p:spPr>
          <a:xfrm>
            <a:off x="1543664" y="0"/>
            <a:ext cx="8910484" cy="848117"/>
          </a:xfrm>
        </p:spPr>
        <p:txBody>
          <a:bodyPr/>
          <a:lstStyle/>
          <a:p>
            <a:pPr algn="ctr"/>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3303080E-3633-4834-9491-F92C535D875B}"/>
              </a:ext>
            </a:extLst>
          </p:cNvPr>
          <p:cNvSpPr>
            <a:spLocks noGrp="1"/>
          </p:cNvSpPr>
          <p:nvPr>
            <p:ph idx="1"/>
          </p:nvPr>
        </p:nvSpPr>
        <p:spPr>
          <a:xfrm>
            <a:off x="137652" y="766916"/>
            <a:ext cx="11828206" cy="5869858"/>
          </a:xfrm>
        </p:spPr>
        <p:txBody>
          <a:bodyPr/>
          <a:lstStyle/>
          <a:p>
            <a:pPr marL="0" indent="0">
              <a:buNone/>
            </a:pPr>
            <a:r>
              <a:rPr lang="en-US" dirty="0">
                <a:latin typeface="Times New Roman" panose="02020603050405020304" pitchFamily="18" charset="0"/>
                <a:cs typeface="Times New Roman" panose="02020603050405020304" pitchFamily="18" charset="0"/>
              </a:rPr>
              <a:t>The analysis indicates that customer churn is largely driven by the following factors:</a:t>
            </a:r>
          </a:p>
          <a:p>
            <a:r>
              <a:rPr lang="en-US" dirty="0">
                <a:latin typeface="Times New Roman" panose="02020603050405020304" pitchFamily="18" charset="0"/>
                <a:cs typeface="Times New Roman" panose="02020603050405020304" pitchFamily="18" charset="0"/>
              </a:rPr>
              <a:t>High monthly charges.</a:t>
            </a:r>
          </a:p>
          <a:p>
            <a:r>
              <a:rPr lang="en-US" dirty="0">
                <a:latin typeface="Times New Roman" panose="02020603050405020304" pitchFamily="18" charset="0"/>
                <a:cs typeface="Times New Roman" panose="02020603050405020304" pitchFamily="18" charset="0"/>
              </a:rPr>
              <a:t>Short customer tenure.</a:t>
            </a:r>
          </a:p>
          <a:p>
            <a:r>
              <a:rPr lang="en-US" dirty="0">
                <a:latin typeface="Times New Roman" panose="02020603050405020304" pitchFamily="18" charset="0"/>
                <a:cs typeface="Times New Roman" panose="02020603050405020304" pitchFamily="18" charset="0"/>
              </a:rPr>
              <a:t>Subscriptions to Fiber Optic services.</a:t>
            </a:r>
          </a:p>
          <a:p>
            <a:r>
              <a:rPr lang="en-US" dirty="0">
                <a:latin typeface="Times New Roman" panose="02020603050405020304" pitchFamily="18" charset="0"/>
                <a:cs typeface="Times New Roman" panose="02020603050405020304" pitchFamily="18" charset="0"/>
              </a:rPr>
              <a:t>Limited adoption of value-added services.</a:t>
            </a:r>
          </a:p>
          <a:p>
            <a:pPr marL="0" indent="0">
              <a:buNone/>
            </a:pPr>
            <a:endParaRPr lang="en-US" dirty="0">
              <a:latin typeface="Times New Roman" panose="02020603050405020304" pitchFamily="18" charset="0"/>
              <a:cs typeface="Times New Roman" panose="02020603050405020304" pitchFamily="18" charset="0"/>
            </a:endParaRPr>
          </a:p>
          <a:p>
            <a:pPr marL="0" indent="0" algn="ctr">
              <a:buNone/>
            </a:pPr>
            <a:r>
              <a:rPr lang="en-US" u="sng" dirty="0">
                <a:latin typeface="Times New Roman" panose="02020603050405020304" pitchFamily="18" charset="0"/>
                <a:cs typeface="Times New Roman" panose="02020603050405020304" pitchFamily="18" charset="0"/>
              </a:rPr>
              <a:t>Final Insights</a:t>
            </a:r>
          </a:p>
          <a:p>
            <a:pPr marL="0" indent="0">
              <a:buNone/>
            </a:pPr>
            <a:r>
              <a:rPr lang="en-US" dirty="0">
                <a:latin typeface="Times New Roman" panose="02020603050405020304" pitchFamily="18" charset="0"/>
                <a:cs typeface="Times New Roman" panose="02020603050405020304" pitchFamily="18" charset="0"/>
              </a:rPr>
              <a:t>To address these challenges, the company should strengthen customer retention strategies by encouraging contract upgrades, enhancing service quality, and increasing customer engagement. Implementing these initiatives can help reduce churn, improve customer loyalty, and drive long-term profitability.</a:t>
            </a:r>
          </a:p>
        </p:txBody>
      </p:sp>
    </p:spTree>
    <p:extLst>
      <p:ext uri="{BB962C8B-B14F-4D97-AF65-F5344CB8AC3E}">
        <p14:creationId xmlns:p14="http://schemas.microsoft.com/office/powerpoint/2010/main" val="2051002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600B9-B263-49E6-A4FE-370C3A690642}"/>
              </a:ext>
            </a:extLst>
          </p:cNvPr>
          <p:cNvSpPr>
            <a:spLocks noGrp="1"/>
          </p:cNvSpPr>
          <p:nvPr>
            <p:ph type="title"/>
          </p:nvPr>
        </p:nvSpPr>
        <p:spPr>
          <a:xfrm>
            <a:off x="1694329" y="0"/>
            <a:ext cx="7239000" cy="1089213"/>
          </a:xfrm>
        </p:spPr>
        <p:txBody>
          <a:bodyPr/>
          <a:lstStyle/>
          <a:p>
            <a:pPr algn="ctr"/>
            <a:r>
              <a:rPr lang="en-US" dirty="0">
                <a:latin typeface="Times New Roman" panose="02020603050405020304" pitchFamily="18" charset="0"/>
                <a:cs typeface="Times New Roman" panose="02020603050405020304" pitchFamily="18" charset="0"/>
              </a:rPr>
              <a:t>recommendation</a:t>
            </a:r>
            <a:endParaRPr lang="en-US" dirty="0"/>
          </a:p>
        </p:txBody>
      </p:sp>
      <p:sp>
        <p:nvSpPr>
          <p:cNvPr id="3" name="Content Placeholder 2">
            <a:extLst>
              <a:ext uri="{FF2B5EF4-FFF2-40B4-BE49-F238E27FC236}">
                <a16:creationId xmlns:a16="http://schemas.microsoft.com/office/drawing/2014/main" id="{794AD8A9-55A5-4BDC-8695-DE136260FD14}"/>
              </a:ext>
            </a:extLst>
          </p:cNvPr>
          <p:cNvSpPr>
            <a:spLocks noGrp="1"/>
          </p:cNvSpPr>
          <p:nvPr>
            <p:ph idx="1"/>
          </p:nvPr>
        </p:nvSpPr>
        <p:spPr>
          <a:xfrm>
            <a:off x="233082" y="1013012"/>
            <a:ext cx="11317941" cy="6320118"/>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      Strengthen Customer Onboarding</a:t>
            </a:r>
          </a:p>
          <a:p>
            <a:pPr marL="0" indent="0">
              <a:buNone/>
            </a:pPr>
            <a:r>
              <a:rPr lang="en-US" sz="1800" dirty="0">
                <a:latin typeface="Times New Roman" panose="02020603050405020304" pitchFamily="18" charset="0"/>
                <a:cs typeface="Times New Roman" panose="02020603050405020304" pitchFamily="18" charset="0"/>
              </a:rPr>
              <a:t>  • Implement retention initiatives during customers’ first year.</a:t>
            </a:r>
          </a:p>
          <a:p>
            <a:pPr marL="0" indent="0">
              <a:buNone/>
            </a:pPr>
            <a:r>
              <a:rPr lang="en-US" sz="1800" dirty="0">
                <a:latin typeface="Times New Roman" panose="02020603050405020304" pitchFamily="18" charset="0"/>
                <a:cs typeface="Times New Roman" panose="02020603050405020304" pitchFamily="18" charset="0"/>
              </a:rPr>
              <a:t>  • Increase engagement through regular communication and personalized support after signup.</a:t>
            </a:r>
          </a:p>
          <a:p>
            <a:pPr marL="0" indent="0">
              <a:buNone/>
            </a:pPr>
            <a:r>
              <a:rPr lang="en-US" sz="1800" b="1" dirty="0">
                <a:latin typeface="Times New Roman" panose="02020603050405020304" pitchFamily="18" charset="0"/>
                <a:cs typeface="Times New Roman" panose="02020603050405020304" pitchFamily="18" charset="0"/>
              </a:rPr>
              <a:t>      Promote Long-Term Subscriptions</a:t>
            </a:r>
          </a:p>
          <a:p>
            <a:pPr marL="0" indent="0">
              <a:buNone/>
            </a:pPr>
            <a:r>
              <a:rPr lang="en-US" sz="1800" dirty="0">
                <a:latin typeface="Times New Roman" panose="02020603050405020304" pitchFamily="18" charset="0"/>
                <a:cs typeface="Times New Roman" panose="02020603050405020304" pitchFamily="18" charset="0"/>
              </a:rPr>
              <a:t>  • Encourage customers to choose annual contracts by offering attractive discounts.</a:t>
            </a:r>
          </a:p>
          <a:p>
            <a:pPr marL="0" indent="0">
              <a:buNone/>
            </a:pPr>
            <a:r>
              <a:rPr lang="en-US" sz="1800" dirty="0">
                <a:latin typeface="Times New Roman" panose="02020603050405020304" pitchFamily="18" charset="0"/>
                <a:cs typeface="Times New Roman" panose="02020603050405020304" pitchFamily="18" charset="0"/>
              </a:rPr>
              <a:t>  • Introduce loyalty and rewards programs to improve long-term retention.</a:t>
            </a:r>
          </a:p>
          <a:p>
            <a:pPr marL="0" indent="0">
              <a:buNone/>
            </a:pPr>
            <a:r>
              <a:rPr lang="en-US" sz="1800" b="1" dirty="0">
                <a:latin typeface="Times New Roman" panose="02020603050405020304" pitchFamily="18" charset="0"/>
                <a:cs typeface="Times New Roman" panose="02020603050405020304" pitchFamily="18" charset="0"/>
              </a:rPr>
              <a:t>      Enhance the Fiber Optic Service Experience</a:t>
            </a:r>
          </a:p>
          <a:p>
            <a:pPr marL="0" indent="0">
              <a:buNone/>
            </a:pPr>
            <a:r>
              <a:rPr lang="en-US" sz="1800" dirty="0">
                <a:latin typeface="Times New Roman" panose="02020603050405020304" pitchFamily="18" charset="0"/>
                <a:cs typeface="Times New Roman" panose="02020603050405020304" pitchFamily="18" charset="0"/>
              </a:rPr>
              <a:t>  • Evaluate and resolve service quality concerns affecting Fiber Optic users.</a:t>
            </a:r>
          </a:p>
          <a:p>
            <a:pPr marL="0" indent="0">
              <a:buNone/>
            </a:pPr>
            <a:r>
              <a:rPr lang="en-US" sz="1800" dirty="0">
                <a:latin typeface="Times New Roman" panose="02020603050405020304" pitchFamily="18" charset="0"/>
                <a:cs typeface="Times New Roman" panose="02020603050405020304" pitchFamily="18" charset="0"/>
              </a:rPr>
              <a:t>  • Review pricing to ensure customers perceive better value for the service.</a:t>
            </a:r>
          </a:p>
          <a:p>
            <a:pPr marL="0" indent="0">
              <a:buNone/>
            </a:pPr>
            <a:r>
              <a:rPr lang="en-US" sz="1800" b="1" dirty="0">
                <a:latin typeface="Times New Roman" panose="02020603050405020304" pitchFamily="18" charset="0"/>
                <a:cs typeface="Times New Roman" panose="02020603050405020304" pitchFamily="18" charset="0"/>
              </a:rPr>
              <a:t>      Expand Adoption of Value-Added Services</a:t>
            </a:r>
          </a:p>
          <a:p>
            <a:pPr marL="0" indent="0">
              <a:buNone/>
            </a:pPr>
            <a:r>
              <a:rPr lang="en-US" sz="1800" dirty="0">
                <a:latin typeface="Times New Roman" panose="02020603050405020304" pitchFamily="18" charset="0"/>
                <a:cs typeface="Times New Roman" panose="02020603050405020304" pitchFamily="18" charset="0"/>
              </a:rPr>
              <a:t>  • Bundle services such as Online Security and Tech Support with existing plans.</a:t>
            </a:r>
          </a:p>
          <a:p>
            <a:pPr marL="0" indent="0">
              <a:buNone/>
            </a:pPr>
            <a:r>
              <a:rPr lang="en-US" sz="1800" dirty="0">
                <a:latin typeface="Times New Roman" panose="02020603050405020304" pitchFamily="18" charset="0"/>
                <a:cs typeface="Times New Roman" panose="02020603050405020304" pitchFamily="18" charset="0"/>
              </a:rPr>
              <a:t>  • Educate customers on the benefits of these additional services to drive adoption.</a:t>
            </a:r>
          </a:p>
          <a:p>
            <a:pPr marL="0" indent="0">
              <a:buNone/>
            </a:pPr>
            <a:r>
              <a:rPr lang="en-US" sz="1800" b="1" dirty="0">
                <a:latin typeface="Times New Roman" panose="02020603050405020304" pitchFamily="18" charset="0"/>
                <a:cs typeface="Times New Roman" panose="02020603050405020304" pitchFamily="18" charset="0"/>
              </a:rPr>
              <a:t>      Refine Pricing and Retention Strategies</a:t>
            </a:r>
          </a:p>
          <a:p>
            <a:pPr marL="0" indent="0">
              <a:buNone/>
            </a:pPr>
            <a:r>
              <a:rPr lang="en-US" sz="1800" dirty="0">
                <a:latin typeface="Times New Roman" panose="02020603050405020304" pitchFamily="18" charset="0"/>
                <a:cs typeface="Times New Roman" panose="02020603050405020304" pitchFamily="18" charset="0"/>
              </a:rPr>
              <a:t>  • Provide personalized offers and retention incentives for customers with higher monthly charges to reduce churn.</a:t>
            </a:r>
          </a:p>
        </p:txBody>
      </p:sp>
      <p:sp>
        <p:nvSpPr>
          <p:cNvPr id="4" name="Arrow: Right 3">
            <a:extLst>
              <a:ext uri="{FF2B5EF4-FFF2-40B4-BE49-F238E27FC236}">
                <a16:creationId xmlns:a16="http://schemas.microsoft.com/office/drawing/2014/main" id="{ABFADE30-7F6E-4A91-A55A-5FEB8C71FF44}"/>
              </a:ext>
            </a:extLst>
          </p:cNvPr>
          <p:cNvSpPr/>
          <p:nvPr/>
        </p:nvSpPr>
        <p:spPr>
          <a:xfrm>
            <a:off x="300314" y="2179547"/>
            <a:ext cx="322729" cy="228599"/>
          </a:xfrm>
          <a:prstGeom prst="rightArrow">
            <a:avLst/>
          </a:prstGeom>
          <a:solidFill>
            <a:schemeClr val="bg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CFC36851-69A7-4046-9D16-A4698759C5AD}"/>
              </a:ext>
            </a:extLst>
          </p:cNvPr>
          <p:cNvSpPr/>
          <p:nvPr/>
        </p:nvSpPr>
        <p:spPr>
          <a:xfrm>
            <a:off x="300314" y="1098178"/>
            <a:ext cx="322729" cy="228599"/>
          </a:xfrm>
          <a:prstGeom prst="rightArrow">
            <a:avLst/>
          </a:prstGeom>
          <a:solidFill>
            <a:schemeClr val="bg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F377BF87-8BB4-4D8E-AFCE-2453844FA45F}"/>
              </a:ext>
            </a:extLst>
          </p:cNvPr>
          <p:cNvSpPr/>
          <p:nvPr/>
        </p:nvSpPr>
        <p:spPr>
          <a:xfrm>
            <a:off x="224116" y="3329269"/>
            <a:ext cx="322729" cy="228599"/>
          </a:xfrm>
          <a:prstGeom prst="rightArrow">
            <a:avLst/>
          </a:prstGeom>
          <a:solidFill>
            <a:schemeClr val="bg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DE8FEDE6-0ABA-4604-9100-7FC0078D36DA}"/>
              </a:ext>
            </a:extLst>
          </p:cNvPr>
          <p:cNvSpPr/>
          <p:nvPr/>
        </p:nvSpPr>
        <p:spPr>
          <a:xfrm>
            <a:off x="224118" y="4442014"/>
            <a:ext cx="322729" cy="228599"/>
          </a:xfrm>
          <a:prstGeom prst="rightArrow">
            <a:avLst/>
          </a:prstGeom>
          <a:solidFill>
            <a:schemeClr val="bg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7DA5B517-31F0-4737-B019-230C6F6854FA}"/>
              </a:ext>
            </a:extLst>
          </p:cNvPr>
          <p:cNvSpPr/>
          <p:nvPr/>
        </p:nvSpPr>
        <p:spPr>
          <a:xfrm>
            <a:off x="224117" y="5569325"/>
            <a:ext cx="322729" cy="228599"/>
          </a:xfrm>
          <a:prstGeom prst="rightArrow">
            <a:avLst/>
          </a:prstGeom>
          <a:solidFill>
            <a:schemeClr val="bg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0836828"/>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3958</TotalTime>
  <Words>781</Words>
  <Application>Microsoft Office PowerPoint</Application>
  <PresentationFormat>Widescreen</PresentationFormat>
  <Paragraphs>129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Algerian</vt:lpstr>
      <vt:lpstr>Arial</vt:lpstr>
      <vt:lpstr>Century Gothic</vt:lpstr>
      <vt:lpstr>Times New Roman</vt:lpstr>
      <vt:lpstr>Vapor Trail</vt:lpstr>
      <vt:lpstr> telco customer churn analysis           business analytics case study</vt:lpstr>
      <vt:lpstr>Business problem statement</vt:lpstr>
      <vt:lpstr>DATASET summary</vt:lpstr>
      <vt:lpstr>Datasets overview</vt:lpstr>
      <vt:lpstr>EXECUTIVE OVERVIEW FINDINGS </vt:lpstr>
      <vt:lpstr>Customer churn analysis</vt:lpstr>
      <vt:lpstr>Internet service and contract analysis</vt:lpstr>
      <vt:lpstr>Churn Driver and correlation analysis</vt:lpstr>
      <vt:lpstr>Dashboard overview</vt:lpstr>
      <vt:lpstr>Conclusion</vt:lpstr>
      <vt:lpstr>recommendation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telco customer churn analysis           business analytics case study</dc:title>
  <dc:creator>Clement Eghosa Osalobo</dc:creator>
  <cp:lastModifiedBy>Clement Eghosa Osalobo</cp:lastModifiedBy>
  <cp:revision>36</cp:revision>
  <dcterms:created xsi:type="dcterms:W3CDTF">2026-07-08T12:42:25Z</dcterms:created>
  <dcterms:modified xsi:type="dcterms:W3CDTF">2026-07-11T09:53:09Z</dcterms:modified>
</cp:coreProperties>
</file>