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8A0F-2A4D-4D30-9F6E-B15D1AA01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B6E9D-BDB4-45D4-950E-CFE4CBCC0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ADA1A-61CA-42BA-9F9E-1E6E823F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B7C7B-83C5-478F-B90D-DE545A76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3F13B-1824-467B-A6A3-34587104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1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E870-6D12-4319-AA24-61EEEB57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4C57A-6DEF-49A9-AABE-9E43A8783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34CC-9D9F-4407-A856-BE1FC355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6D6F3-6A69-4798-901A-1C83AF27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A52E9-63C9-4C03-96E1-30AD291E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7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EAC3-C36C-4652-827E-1C45B35D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B0D88-D419-4299-A103-21EFCFE48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FCD44-2A6E-41E0-8638-110BCECF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65BE1-4621-4064-9D6E-7BEF5D5EA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B400-F756-4FF4-A40D-02089802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30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4D1A-B73A-4944-B625-EB230A0E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5ACEC-242C-43C3-A2F2-2360431E7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9C662-24C7-4BBF-B3B2-CCD7B4B79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280B-BAED-47C2-9ECD-4230E98F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5F594-3071-4F97-9340-594805A07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DEEB1-A132-473B-B933-912CDBF1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2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E51C-E222-4EDF-9E47-C47EADEF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ABB3E-FC7E-438E-81D1-173B23FA2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7ABB4-D816-458C-A175-C015767E3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EDCDB-08EE-4C4D-B1F4-164F3A0FC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3958E-B297-4AD5-8930-429595797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47ED98-60F5-405D-A834-980AB62A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BBD174-D351-4391-8AC8-0392BFB40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5E484-E925-4FA8-A326-D552CB30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89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1738-A877-4192-B719-9A9751A5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4EE6C-6F82-43B7-B141-4A2F60D5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58BC8-99D7-4BFB-A2F4-5D7FB9537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D7B06-23A5-4A5B-AF4D-9FC54166C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16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D3A00C-388D-43C6-93B1-DFF14FF3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1AB43-D5D6-43D5-A632-3D95A632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1B634-A878-4F90-9271-33B3E18FD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62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139D-1C52-4F08-A024-B83DF5D1F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01C0F-5F94-4F8A-A310-564656A35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C86D-8DE8-4A82-98A0-FC189AF1D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0CD16-AD43-4B92-A03F-09242D08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40B3A-0F62-4DCB-BFD7-1A73D6C7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84C12-623A-4D07-9813-5B226086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16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4993-CE1E-4562-8A37-01AF0E855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C0D92-C9C6-475E-A36D-04D30B941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4B30B-8BE5-4891-9AC1-BD63DAC6E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12AF7-D176-46FC-ABF7-6E53511C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A4C5F-5336-46AD-AB17-93C94E4B1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08DE9-9FFB-4682-AAF4-4664C934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00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01C4-4F12-4C38-9301-A4B0F041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D8349-ADA4-4CB4-905A-DB89184B3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EA610-63AA-413A-BEC1-8A5A2610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197F0-8283-4D54-A3B5-E9CFBB8CB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E37B0-E936-4E80-9137-A904B31C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72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ACB12D-1217-4EFC-988D-BD026C579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5DF9B-9258-490D-A9BF-0DAAED2F5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4B8F1-7B5E-4F9E-AB7E-D32F3B12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B3BD0-741F-4F23-80A7-0492F9A6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5FDF9-C515-4523-BC30-63266D76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3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6A00E9-8F98-4261-B219-74A1DC63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47D35-ABA3-4833-B0E9-8C43763D3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C8CAE-CA1F-4ECA-B581-D06B7632A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D1EDF-784C-4511-B96B-3EBE25AE666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25C23-F27A-4A21-8DD6-6597CD393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53664-5B28-4A7E-8821-F8ABEFF91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B4491-AA58-41B7-8F85-F2F5601E3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4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3ECA-114A-45DD-AE72-9A0FB2B39D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F38B5B-5CE6-4261-8689-B630E05438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ABE4AF-CC52-44BB-8206-BAC913790912}"/>
              </a:ext>
            </a:extLst>
          </p:cNvPr>
          <p:cNvSpPr/>
          <p:nvPr/>
        </p:nvSpPr>
        <p:spPr>
          <a:xfrm>
            <a:off x="0" y="31376"/>
            <a:ext cx="12192000" cy="6826623"/>
          </a:xfrm>
          <a:prstGeom prst="rect">
            <a:avLst/>
          </a:prstGeom>
          <a:gradFill>
            <a:gsLst>
              <a:gs pos="0">
                <a:schemeClr val="accent5">
                  <a:lumMod val="110000"/>
                  <a:satMod val="105000"/>
                  <a:tint val="67000"/>
                </a:schemeClr>
              </a:gs>
              <a:gs pos="35000">
                <a:schemeClr val="accent5">
                  <a:lumMod val="105000"/>
                  <a:satMod val="103000"/>
                  <a:tint val="73000"/>
                </a:schemeClr>
              </a:gs>
              <a:gs pos="73000">
                <a:srgbClr val="002060"/>
              </a:gs>
            </a:gsLst>
          </a:gra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ANALYSIS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 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OSALOBO EGHOSA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DATA ANALYST</a:t>
            </a:r>
          </a:p>
        </p:txBody>
      </p:sp>
      <p:pic>
        <p:nvPicPr>
          <p:cNvPr id="7" name="Graphic 6" descr="Shopping cart with solid fill">
            <a:extLst>
              <a:ext uri="{FF2B5EF4-FFF2-40B4-BE49-F238E27FC236}">
                <a16:creationId xmlns:a16="http://schemas.microsoft.com/office/drawing/2014/main" id="{4843C60E-6491-42B2-BD36-F38D32F71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9743" y="4639317"/>
            <a:ext cx="1926446" cy="192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4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000">
              <a:schemeClr val="accent5">
                <a:lumMod val="110000"/>
                <a:satMod val="105000"/>
                <a:tint val="67000"/>
              </a:schemeClr>
            </a:gs>
            <a:gs pos="65000">
              <a:schemeClr val="accent5">
                <a:lumMod val="105000"/>
                <a:satMod val="103000"/>
                <a:tint val="73000"/>
              </a:schemeClr>
            </a:gs>
            <a:gs pos="52000">
              <a:srgbClr val="00206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8FCE-AB69-40B1-89AE-92FC617C6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241" y="0"/>
            <a:ext cx="5329517" cy="34412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53B4E7-DCF9-4110-AECC-055B91716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172064"/>
            <a:ext cx="11245645" cy="672526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Superstore Sales Dataset</a:t>
            </a:r>
          </a:p>
          <a:p>
            <a:pPr marL="0" indent="0">
              <a:buNone/>
            </a:pPr>
            <a:r>
              <a:rPr lang="en-US" sz="5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9,995 Rows and 21 Columns</a:t>
            </a:r>
          </a:p>
          <a:p>
            <a:pPr marL="0" indent="0">
              <a:buNone/>
            </a:pPr>
            <a:r>
              <a:rPr lang="en-US" sz="5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Order Date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Ship Date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Customer Name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Region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Category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Sub-Category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Sales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Quantity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Discount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Profit</a:t>
            </a:r>
          </a:p>
          <a:p>
            <a:pPr marL="0" indent="0">
              <a:buNone/>
            </a:pPr>
            <a:r>
              <a:rPr lang="en-US" sz="5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Performed: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Cleaned column names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Checked missing values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Verified data types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Formatted date columns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Validated numeric measures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Created Date Table for time intelligence</a:t>
            </a:r>
          </a:p>
          <a:p>
            <a:pPr marL="0" indent="0">
              <a:buNone/>
            </a:pPr>
            <a:r>
              <a:rPr lang="en-US" sz="5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Microsoft Power BI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Power Query Editor</a:t>
            </a:r>
          </a:p>
          <a:p>
            <a:pPr marL="0" indent="0"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DAX (Data Analysis Expressions)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407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000">
              <a:schemeClr val="accent5">
                <a:lumMod val="110000"/>
                <a:satMod val="105000"/>
                <a:tint val="67000"/>
              </a:schemeClr>
            </a:gs>
            <a:gs pos="65000">
              <a:schemeClr val="accent5">
                <a:lumMod val="105000"/>
                <a:satMod val="103000"/>
                <a:tint val="73000"/>
              </a:schemeClr>
            </a:gs>
            <a:gs pos="52000">
              <a:srgbClr val="00206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85AA-C7F5-47C5-B0E6-B817C076D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49" y="70158"/>
            <a:ext cx="10515600" cy="64759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C4C3D-3AFF-4106-9CD4-808802CC2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717756"/>
            <a:ext cx="11176819" cy="6070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 Addressed 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1. Which region generates the most profit?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business needed a way to:                                     2. Which category performs best?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underperforming products                            3. Which products are underperforming?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sales and profit performance                        4.  How do discounts affect profit?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regional sales trends                                     5.  What are the yearly sales trends?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impact of discounts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on profitability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down business growth over time.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an interactive dashboard that supports data-driven decision-making for  business stakeholders and non-technical stakeholders.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68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000">
              <a:schemeClr val="accent5">
                <a:lumMod val="110000"/>
                <a:satMod val="105000"/>
                <a:tint val="67000"/>
              </a:schemeClr>
            </a:gs>
            <a:gs pos="65000">
              <a:schemeClr val="accent5">
                <a:lumMod val="105000"/>
                <a:satMod val="103000"/>
                <a:tint val="73000"/>
              </a:schemeClr>
            </a:gs>
            <a:gs pos="52000">
              <a:srgbClr val="00206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4B46-57CD-47C8-818C-2A1F23F77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2961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E136D6-C428-4E9F-81A2-F9EDEEA3D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403122"/>
            <a:ext cx="11206316" cy="629264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KPIs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$2.3M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Profit: $286.40K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Orders: 5,009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Margin: 12.47%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 Sold: 37.87K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Discount: 15.62%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Used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DISTINCTCOUNT()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AVERAGE()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DIVIDE()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DATEADD()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KPIs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business performance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Sales growth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profitability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operational efficiency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594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000">
              <a:schemeClr val="accent5">
                <a:lumMod val="110000"/>
                <a:satMod val="105000"/>
                <a:tint val="67000"/>
              </a:schemeClr>
            </a:gs>
            <a:gs pos="65000">
              <a:schemeClr val="accent5">
                <a:lumMod val="105000"/>
                <a:satMod val="103000"/>
                <a:tint val="73000"/>
              </a:schemeClr>
            </a:gs>
            <a:gs pos="52000">
              <a:srgbClr val="00206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C923-3F94-4903-BB8E-0CA9909E4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2926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829259-0B55-4593-9D12-8509E6D85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89" y="717754"/>
            <a:ext cx="11675422" cy="5982929"/>
          </a:xfrm>
        </p:spPr>
      </p:pic>
    </p:spTree>
    <p:extLst>
      <p:ext uri="{BB962C8B-B14F-4D97-AF65-F5344CB8AC3E}">
        <p14:creationId xmlns:p14="http://schemas.microsoft.com/office/powerpoint/2010/main" val="310457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000">
              <a:schemeClr val="accent5">
                <a:lumMod val="110000"/>
                <a:satMod val="105000"/>
                <a:tint val="67000"/>
              </a:schemeClr>
            </a:gs>
            <a:gs pos="65000">
              <a:schemeClr val="accent5">
                <a:lumMod val="105000"/>
                <a:satMod val="103000"/>
                <a:tint val="73000"/>
              </a:schemeClr>
            </a:gs>
            <a:gs pos="52000">
              <a:srgbClr val="00206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4448C-B710-4A2C-809B-288928F3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01"/>
            <a:ext cx="10515600" cy="598436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8DCA4-95F3-48C7-B3B0-B5F2BBD64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681037"/>
            <a:ext cx="11107994" cy="609436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&amp; Profitability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west region generated the highest sales and profit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south region generated the lowest sales performance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was the best performing category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furniture products generated  low or negative profit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increased significantly from 2015- 2017, showing business growth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Impact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products recorded losses despite strong sales volume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discounts reduced profit margins significantly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Insights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California and New York contributed significantly to overall sales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states had strong sales but weak profitability</a:t>
            </a:r>
          </a:p>
        </p:txBody>
      </p:sp>
    </p:spTree>
    <p:extLst>
      <p:ext uri="{BB962C8B-B14F-4D97-AF65-F5344CB8AC3E}">
        <p14:creationId xmlns:p14="http://schemas.microsoft.com/office/powerpoint/2010/main" val="224645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000">
              <a:schemeClr val="accent5">
                <a:lumMod val="110000"/>
                <a:satMod val="105000"/>
                <a:tint val="67000"/>
              </a:schemeClr>
            </a:gs>
            <a:gs pos="65000">
              <a:schemeClr val="accent5">
                <a:lumMod val="105000"/>
                <a:satMod val="103000"/>
                <a:tint val="73000"/>
              </a:schemeClr>
            </a:gs>
            <a:gs pos="52000">
              <a:srgbClr val="00206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B866-4B58-4DC5-B0ED-CBC6412B7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990"/>
            <a:ext cx="10515600" cy="44112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Business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A7692-1CAD-4BB6-B0D8-F0866534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521110"/>
            <a:ext cx="11176819" cy="61549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Improvement &amp; Product Strategy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excessive discounting among low-margin products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pricing strategies for understanding categories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more on high-performing Technology products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Re-evaluate poorly performing products sub-categories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Growth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targeted strategies for low-performing states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more resources in high-performing regions like the West</a:t>
            </a:r>
          </a:p>
        </p:txBody>
      </p:sp>
    </p:spTree>
    <p:extLst>
      <p:ext uri="{BB962C8B-B14F-4D97-AF65-F5344CB8AC3E}">
        <p14:creationId xmlns:p14="http://schemas.microsoft.com/office/powerpoint/2010/main" val="150911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000">
              <a:schemeClr val="accent5">
                <a:lumMod val="110000"/>
                <a:satMod val="105000"/>
                <a:tint val="67000"/>
              </a:schemeClr>
            </a:gs>
            <a:gs pos="65000">
              <a:schemeClr val="accent5">
                <a:lumMod val="105000"/>
                <a:satMod val="103000"/>
                <a:tint val="73000"/>
              </a:schemeClr>
            </a:gs>
            <a:gs pos="52000">
              <a:srgbClr val="00206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7AFD-1D5F-4F26-9152-2E8BEAFA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22"/>
            <a:ext cx="10515600" cy="48044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Encountered During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46A47-355A-4E10-8FA1-883F670B3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7" y="570271"/>
            <a:ext cx="11690555" cy="6115664"/>
          </a:xfrm>
        </p:spPr>
        <p:txBody>
          <a:bodyPr/>
          <a:lstStyle/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Challenge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column contained many zero values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column included negative values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validation were required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DAX measures for time intelligence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an organized dashboard wireframe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map visualizations correctly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visuals interacted properly with slicers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 Challenge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 appropriate visualizations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readability and consistency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dashboard aesthetics with functionality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653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000">
              <a:schemeClr val="accent5">
                <a:lumMod val="110000"/>
                <a:satMod val="105000"/>
                <a:tint val="67000"/>
              </a:schemeClr>
            </a:gs>
            <a:gs pos="65000">
              <a:schemeClr val="accent5">
                <a:lumMod val="105000"/>
                <a:satMod val="103000"/>
                <a:tint val="73000"/>
              </a:schemeClr>
            </a:gs>
            <a:gs pos="52000">
              <a:srgbClr val="00206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FA97A-73DC-4C1C-B9A4-6061BABD3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097"/>
            <a:ext cx="10515600" cy="56894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0DB06-D057-43D0-B946-4A4913705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568941"/>
            <a:ext cx="11572568" cy="61769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 transformed raw Superstore sales  data into a professional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interractive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using Microsoft Power BI</a:t>
            </a:r>
          </a:p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Achievement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interactive visual reports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meaningful KPIs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business performance trends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regional product profitability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practical business intelligence skills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Demonstrated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Intelligence(BI)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Calculations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Reporting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Thinking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Conclusion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provides stakeholders with clear and interactive way to monitor business performance and make data-driven decisions effectively.</a:t>
            </a:r>
          </a:p>
        </p:txBody>
      </p:sp>
    </p:spTree>
    <p:extLst>
      <p:ext uri="{BB962C8B-B14F-4D97-AF65-F5344CB8AC3E}">
        <p14:creationId xmlns:p14="http://schemas.microsoft.com/office/powerpoint/2010/main" val="2789148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560</Words>
  <Application>Microsoft Office PowerPoint</Application>
  <PresentationFormat>Widescreen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               Dataset Overview</vt:lpstr>
      <vt:lpstr>Business Problem</vt:lpstr>
      <vt:lpstr>Key Performance Indicators</vt:lpstr>
      <vt:lpstr>DASHBOARD</vt:lpstr>
      <vt:lpstr>Key Business Insights</vt:lpstr>
      <vt:lpstr>Strategic Business Recommendation</vt:lpstr>
      <vt:lpstr>Challenges Encountered During The Project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Clement Eghosa Osalobo</dc:creator>
  <cp:lastModifiedBy>Clement Eghosa Osalobo</cp:lastModifiedBy>
  <cp:revision>19</cp:revision>
  <dcterms:created xsi:type="dcterms:W3CDTF">2026-06-23T03:39:07Z</dcterms:created>
  <dcterms:modified xsi:type="dcterms:W3CDTF">2026-06-27T01:12:33Z</dcterms:modified>
</cp:coreProperties>
</file>